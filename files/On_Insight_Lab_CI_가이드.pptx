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2" r:id="rId4"/>
    <p:sldId id="261" r:id="rId5"/>
    <p:sldId id="256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9BBD"/>
    <a:srgbClr val="008CD6"/>
    <a:srgbClr val="0F0F0F"/>
    <a:srgbClr val="001333"/>
    <a:srgbClr val="59CAE9"/>
    <a:srgbClr val="008FD5"/>
    <a:srgbClr val="0092D0"/>
    <a:srgbClr val="0015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C3EC4-B35B-44A0-AAA3-398CD2D22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DA6C36-BD5C-4EA4-BA5F-70A4BFA4B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9D0CE1-CAEF-43C8-9EAF-0938287A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3E40C-28A4-4722-9A61-E8528CFA9B05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26C69F-D182-457D-9714-0E9A4115F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96C750-0980-4DFB-9CB5-0DF6EAEF1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F99E2-562E-4135-A52B-2E317A8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39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1D555-A31A-42D8-9DC5-590E6162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03B80C-4D3B-41D3-8961-4B44E8055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D82DC5-B354-4201-95F5-8CA7C7642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3E40C-28A4-4722-9A61-E8528CFA9B05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FA13B7-C148-4AB4-B938-219BCE349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61B1EC-54B3-4D9C-8ED8-167DC41B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F99E2-562E-4135-A52B-2E317A8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876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F8E50-CCBE-458E-9DFD-C204A64D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F9A154-AFAC-49F2-B480-A9CB043C6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8B0702-2527-4001-8F77-33123AA5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3E40C-28A4-4722-9A61-E8528CFA9B05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C05C2D-9BE9-4962-885B-21E8C78A2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9E4C79-3C59-4736-87C1-3EBBABB5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F99E2-562E-4135-A52B-2E317A8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746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FDA2A-AAD2-4B5C-B9D6-9D3038B6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BA5180-8C45-4A88-82E6-A78981129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4BFA51-1646-453C-BA4C-4C7DC3BCA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8FD2F7-E76F-4554-AE6F-E9D30F2D5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3E40C-28A4-4722-9A61-E8528CFA9B05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E33D94-5A5B-4608-B4C0-26D3FB92F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9198AC-BCA2-40DC-988C-4715D5BDD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F99E2-562E-4135-A52B-2E317A8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611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12273-6C40-429F-B4BD-006DF5A23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10178-A28D-43A5-8C50-95A6CD2B5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A68A02-AB48-4A3B-8E97-6EA0B2377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A37A07-18AE-4936-A3DF-5167B6874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37E8699-2E1B-4C32-BEAD-F41E5A724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68731E-E548-4B87-9408-E8137476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3E40C-28A4-4722-9A61-E8528CFA9B05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98138E-260D-44B6-B8EC-D0DB74F3E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59B004-235C-4278-AAEC-F7789AF4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F99E2-562E-4135-A52B-2E317A8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03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831ED-C91D-457D-816D-A7575710B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FC8F4F-671A-42F0-BA86-65FBCE1A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3E40C-28A4-4722-9A61-E8528CFA9B05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6987A3-612B-4611-8D9C-76461657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97C54B-9A5E-4B49-BA61-2D73B357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F99E2-562E-4135-A52B-2E317A8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472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64F448-93B3-4855-B8B0-D16CFADC1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3E40C-28A4-4722-9A61-E8528CFA9B05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C0D7A68-2CD9-4355-A2BD-A46AE7A7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09BA26-DCCA-4627-999F-33CC9E8F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F99E2-562E-4135-A52B-2E317A8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334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39D161-E82F-4D95-B5BA-4C0C9029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C95399-7758-4A22-88B4-11AFA45C1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4AC10E-A380-4AD1-9256-204E5E78B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FAE0D4-E483-4BF6-8395-40E0D81DA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3E40C-28A4-4722-9A61-E8528CFA9B05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9859B7-98AE-4757-A652-7387E1D2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29A7A5-15B1-4B64-A013-B9F383C48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F99E2-562E-4135-A52B-2E317A8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847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4DD902-9EB5-47B5-88DE-B3394C11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B004C8-95E1-4E01-865D-9295C608E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50EFA2-B96E-45D6-8F87-DA1BEDD96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F0C8FA-A767-4ED7-A201-609EFACF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3E40C-28A4-4722-9A61-E8528CFA9B05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C5AAE0-4ADD-4132-8154-BD7E192CA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98EAAB-B453-4468-A492-B050DFF9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F99E2-562E-4135-A52B-2E317A8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841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0777F-9685-4A0F-B47C-2FEFE33A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6DE7D9-8554-4107-87D6-FDB6CDFF5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503890-4F29-4B65-9B5E-DA953E159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3E40C-28A4-4722-9A61-E8528CFA9B05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05C922-D99F-4715-B367-1E5C97D15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CF4B92-7A96-471D-8B79-069570D58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F99E2-562E-4135-A52B-2E317A8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127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D7B531-3D24-48A7-BFF2-C6DBD3DCE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676FE7-F5F3-47C9-84EE-FA9F33D0A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61F7A1-71F1-44BE-B415-B211D6A97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3E40C-28A4-4722-9A61-E8528CFA9B05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6BFCA1-B562-4136-B6D1-E71341A1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5B10A0-0CA3-4C25-B843-7ED10B0D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F99E2-562E-4135-A52B-2E317A8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80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7D6507-3B2E-408A-BB27-63C79D43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2941C7-B880-40A7-B237-C524EE2C6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82D3FF-341B-4003-B961-11F4C2EBFA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3E40C-28A4-4722-9A61-E8528CFA9B05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71D90D-5D48-420D-B6B8-E75A3D6F7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97DEE8-B384-4F64-A73A-4104486A8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F99E2-562E-4135-A52B-2E317A8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622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8718315" y="1940992"/>
            <a:ext cx="843534" cy="1779652"/>
          </a:xfrm>
          <a:custGeom>
            <a:avLst/>
            <a:gdLst/>
            <a:ahLst/>
            <a:cxnLst/>
            <a:rect l="l" t="t" r="r" b="b"/>
            <a:pathLst>
              <a:path w="2343150" h="4943475">
                <a:moveTo>
                  <a:pt x="0" y="0"/>
                </a:moveTo>
                <a:lnTo>
                  <a:pt x="2343150" y="0"/>
                </a:lnTo>
                <a:lnTo>
                  <a:pt x="2343150" y="4943475"/>
                </a:lnTo>
                <a:lnTo>
                  <a:pt x="0" y="4943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913207" y="3266115"/>
            <a:ext cx="1662031" cy="1940815"/>
          </a:xfrm>
          <a:custGeom>
            <a:avLst/>
            <a:gdLst>
              <a:gd name="connsiteX0" fmla="*/ 0 w 4592561"/>
              <a:gd name="connsiteY0" fmla="*/ 0 h 5391150"/>
              <a:gd name="connsiteX1" fmla="*/ 4592561 w 4592561"/>
              <a:gd name="connsiteY1" fmla="*/ 3144759 h 5391150"/>
              <a:gd name="connsiteX2" fmla="*/ 4495800 w 4592561"/>
              <a:gd name="connsiteY2" fmla="*/ 5391150 h 5391150"/>
              <a:gd name="connsiteX3" fmla="*/ 0 w 4592561"/>
              <a:gd name="connsiteY3" fmla="*/ 5391150 h 5391150"/>
              <a:gd name="connsiteX4" fmla="*/ 0 w 4592561"/>
              <a:gd name="connsiteY4" fmla="*/ 0 h 5391150"/>
              <a:gd name="connsiteX0" fmla="*/ 0 w 4616753"/>
              <a:gd name="connsiteY0" fmla="*/ 0 h 5391150"/>
              <a:gd name="connsiteX1" fmla="*/ 4592561 w 4616753"/>
              <a:gd name="connsiteY1" fmla="*/ 3144759 h 5391150"/>
              <a:gd name="connsiteX2" fmla="*/ 4616753 w 4616753"/>
              <a:gd name="connsiteY2" fmla="*/ 5391150 h 5391150"/>
              <a:gd name="connsiteX3" fmla="*/ 0 w 4616753"/>
              <a:gd name="connsiteY3" fmla="*/ 5391150 h 5391150"/>
              <a:gd name="connsiteX4" fmla="*/ 0 w 4616753"/>
              <a:gd name="connsiteY4" fmla="*/ 0 h 539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16753" h="5391150">
                <a:moveTo>
                  <a:pt x="0" y="0"/>
                </a:moveTo>
                <a:lnTo>
                  <a:pt x="4592561" y="3144759"/>
                </a:lnTo>
                <a:lnTo>
                  <a:pt x="4616753" y="5391150"/>
                </a:lnTo>
                <a:lnTo>
                  <a:pt x="0" y="5391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26778" y="1940992"/>
            <a:ext cx="836676" cy="1786510"/>
          </a:xfrm>
          <a:custGeom>
            <a:avLst/>
            <a:gdLst/>
            <a:ahLst/>
            <a:cxnLst/>
            <a:rect l="l" t="t" r="r" b="b"/>
            <a:pathLst>
              <a:path w="2324100" h="4962525">
                <a:moveTo>
                  <a:pt x="0" y="0"/>
                </a:moveTo>
                <a:lnTo>
                  <a:pt x="2324100" y="0"/>
                </a:lnTo>
                <a:lnTo>
                  <a:pt x="2324100" y="4962525"/>
                </a:lnTo>
                <a:lnTo>
                  <a:pt x="0" y="4962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E921FEC-2842-49B1-A261-40E665F02C29}"/>
              </a:ext>
            </a:extLst>
          </p:cNvPr>
          <p:cNvGrpSpPr/>
          <p:nvPr/>
        </p:nvGrpSpPr>
        <p:grpSpPr>
          <a:xfrm>
            <a:off x="8135326" y="5276160"/>
            <a:ext cx="3423561" cy="584775"/>
            <a:chOff x="2551611" y="4371705"/>
            <a:chExt cx="3423561" cy="58477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374E734-CA04-47D5-A63C-D09C866A37C4}"/>
                </a:ext>
              </a:extLst>
            </p:cNvPr>
            <p:cNvSpPr txBox="1"/>
            <p:nvPr/>
          </p:nvSpPr>
          <p:spPr>
            <a:xfrm>
              <a:off x="2551611" y="4371705"/>
              <a:ext cx="342356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b="1" dirty="0"/>
                <a:t>n Insight Lab</a:t>
              </a:r>
              <a:endParaRPr lang="ko-KR" altLang="en-US" sz="3200" b="1" dirty="0"/>
            </a:p>
          </p:txBody>
        </p:sp>
        <p:pic>
          <p:nvPicPr>
            <p:cNvPr id="17" name="그래픽 16" descr="제곱">
              <a:extLst>
                <a:ext uri="{FF2B5EF4-FFF2-40B4-BE49-F238E27FC236}">
                  <a16:creationId xmlns:a16="http://schemas.microsoft.com/office/drawing/2014/main" id="{2FA92284-F429-4343-9113-4A6233130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91615" y="4434233"/>
              <a:ext cx="436521" cy="436521"/>
            </a:xfrm>
            <a:prstGeom prst="rect">
              <a:avLst/>
            </a:prstGeom>
          </p:spPr>
        </p:pic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BB17F5-D389-4EB9-B570-95365BA344E9}"/>
              </a:ext>
            </a:extLst>
          </p:cNvPr>
          <p:cNvSpPr/>
          <p:nvPr/>
        </p:nvSpPr>
        <p:spPr>
          <a:xfrm>
            <a:off x="675758" y="1230821"/>
            <a:ext cx="6096000" cy="463011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+mj-lt"/>
              </a:rPr>
              <a:t>1. </a:t>
            </a:r>
            <a:r>
              <a:rPr lang="ko-KR" altLang="en-US" sz="1100" b="1" dirty="0">
                <a:latin typeface="+mj-lt"/>
              </a:rPr>
              <a:t>디자인 콘셉트</a:t>
            </a:r>
            <a:r>
              <a:rPr lang="en-US" altLang="ko-KR" sz="1100" b="1" dirty="0">
                <a:latin typeface="+mj-lt"/>
              </a:rPr>
              <a:t> "</a:t>
            </a:r>
            <a:r>
              <a:rPr lang="ko-KR" altLang="en-US" sz="1100" b="1" dirty="0">
                <a:latin typeface="+mj-lt"/>
              </a:rPr>
              <a:t>도약과 통찰의 플랫폼</a:t>
            </a:r>
            <a:r>
              <a:rPr lang="en-US" altLang="ko-KR" sz="1100" b="1" dirty="0">
                <a:latin typeface="+mj-lt"/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j-lt"/>
              </a:rPr>
              <a:t>Symbol mark</a:t>
            </a:r>
            <a:r>
              <a:rPr lang="ko-KR" altLang="en-US" sz="1100" dirty="0">
                <a:latin typeface="+mj-lt"/>
              </a:rPr>
              <a:t>는 </a:t>
            </a:r>
            <a:r>
              <a:rPr lang="en-US" altLang="ko-KR" sz="1100" dirty="0">
                <a:latin typeface="+mj-lt"/>
              </a:rPr>
              <a:t>'</a:t>
            </a:r>
            <a:r>
              <a:rPr lang="ko-KR" altLang="en-US" sz="1100" dirty="0">
                <a:latin typeface="+mj-lt"/>
              </a:rPr>
              <a:t>통찰의 전환</a:t>
            </a:r>
            <a:r>
              <a:rPr lang="en-US" altLang="ko-KR" sz="1100" dirty="0">
                <a:latin typeface="+mj-lt"/>
              </a:rPr>
              <a:t>(Turn-On)'</a:t>
            </a:r>
            <a:r>
              <a:rPr lang="ko-KR" altLang="en-US" sz="1100" dirty="0">
                <a:latin typeface="+mj-lt"/>
              </a:rPr>
              <a:t>과 </a:t>
            </a:r>
            <a:r>
              <a:rPr lang="en-US" altLang="ko-KR" sz="1100" dirty="0">
                <a:latin typeface="+mj-lt"/>
              </a:rPr>
              <a:t>'</a:t>
            </a:r>
            <a:r>
              <a:rPr lang="ko-KR" altLang="en-US" sz="1100" dirty="0">
                <a:latin typeface="+mj-lt"/>
              </a:rPr>
              <a:t>성장의 공간</a:t>
            </a:r>
            <a:r>
              <a:rPr lang="en-US" altLang="ko-KR" sz="1100" dirty="0">
                <a:latin typeface="+mj-lt"/>
              </a:rPr>
              <a:t>(Platform)'</a:t>
            </a:r>
            <a:r>
              <a:rPr lang="ko-KR" altLang="en-US" sz="1100" dirty="0">
                <a:latin typeface="+mj-lt"/>
              </a:rPr>
              <a:t>이라는 브랜드의 핵심 가치를 직관적인 기하학적 형태로 </a:t>
            </a:r>
            <a:r>
              <a:rPr lang="ko-KR" altLang="en-US" sz="1100" dirty="0" err="1">
                <a:latin typeface="+mj-lt"/>
              </a:rPr>
              <a:t>시각화했습니다</a:t>
            </a:r>
            <a:r>
              <a:rPr lang="en-US" altLang="ko-KR" sz="1100" dirty="0">
                <a:latin typeface="+mj-lt"/>
              </a:rPr>
              <a:t>. </a:t>
            </a:r>
            <a:r>
              <a:rPr lang="ko-KR" altLang="en-US" sz="1100" dirty="0">
                <a:latin typeface="+mj-lt"/>
              </a:rPr>
              <a:t>육면체 큐브</a:t>
            </a:r>
            <a:r>
              <a:rPr lang="en-US" altLang="ko-KR" sz="1100" dirty="0">
                <a:latin typeface="+mj-lt"/>
              </a:rPr>
              <a:t>(Cube)</a:t>
            </a:r>
            <a:r>
              <a:rPr lang="ko-KR" altLang="en-US" sz="1100" dirty="0">
                <a:latin typeface="+mj-lt"/>
              </a:rPr>
              <a:t>가 개방되는 순간과 상향 화살표</a:t>
            </a:r>
            <a:r>
              <a:rPr lang="en-US" altLang="ko-KR" sz="1100" dirty="0">
                <a:latin typeface="+mj-lt"/>
              </a:rPr>
              <a:t>(Arrow)</a:t>
            </a:r>
            <a:r>
              <a:rPr lang="ko-KR" altLang="en-US" sz="1100" dirty="0">
                <a:latin typeface="+mj-lt"/>
              </a:rPr>
              <a:t>의 네거티브 스페이스를 결합하여</a:t>
            </a:r>
            <a:r>
              <a:rPr lang="en-US" altLang="ko-KR" sz="1100" dirty="0">
                <a:latin typeface="+mj-lt"/>
              </a:rPr>
              <a:t>, </a:t>
            </a:r>
            <a:r>
              <a:rPr lang="ko-KR" altLang="en-US" sz="1100" dirty="0">
                <a:latin typeface="+mj-lt"/>
              </a:rPr>
              <a:t>새로운 인사이트를 열고 미래 가치를 창출하는 </a:t>
            </a:r>
            <a:r>
              <a:rPr lang="en-US" altLang="ko-KR" sz="1100" dirty="0">
                <a:latin typeface="+mj-lt"/>
              </a:rPr>
              <a:t>Lab</a:t>
            </a:r>
            <a:r>
              <a:rPr lang="ko-KR" altLang="en-US" sz="1100" dirty="0">
                <a:latin typeface="+mj-lt"/>
              </a:rPr>
              <a:t>의</a:t>
            </a:r>
            <a:r>
              <a:rPr lang="en-US" altLang="ko-KR" sz="1100" dirty="0">
                <a:latin typeface="+mj-lt"/>
              </a:rPr>
              <a:t> </a:t>
            </a:r>
            <a:r>
              <a:rPr lang="ko-KR" altLang="en-US" sz="1100" dirty="0">
                <a:latin typeface="+mj-lt"/>
              </a:rPr>
              <a:t>정체성을 상징</a:t>
            </a:r>
            <a:endParaRPr lang="en-US" altLang="ko-KR" sz="11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+mj-lt"/>
              </a:rPr>
              <a:t>2. </a:t>
            </a:r>
            <a:r>
              <a:rPr lang="ko-KR" altLang="en-US" sz="1100" b="1" dirty="0">
                <a:latin typeface="+mj-lt"/>
              </a:rPr>
              <a:t>조형적 요소별 상징 의미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latin typeface="+mj-lt"/>
              </a:rPr>
              <a:t>개방형 큐브 구조 </a:t>
            </a:r>
            <a:r>
              <a:rPr lang="en-US" altLang="ko-KR" sz="1100" b="1" dirty="0">
                <a:latin typeface="+mj-lt"/>
              </a:rPr>
              <a:t>(Open Cube &amp; Platform)</a:t>
            </a:r>
            <a:r>
              <a:rPr lang="en-US" altLang="ko-KR" sz="1100" dirty="0">
                <a:latin typeface="+mj-lt"/>
              </a:rPr>
              <a:t> </a:t>
            </a:r>
            <a:r>
              <a:rPr lang="ko-KR" altLang="en-US" sz="1100" dirty="0">
                <a:latin typeface="+mj-lt"/>
              </a:rPr>
              <a:t>는 닫힌 틀을 깨고 밖으로 펼쳐지는 입체적 큐브 형태는 고정관념을 탈피한 혁신적 사고와 연구의 확장성을</a:t>
            </a:r>
            <a:r>
              <a:rPr lang="en-US" altLang="ko-KR" sz="1100" dirty="0">
                <a:latin typeface="+mj-lt"/>
              </a:rPr>
              <a:t>, </a:t>
            </a:r>
            <a:r>
              <a:rPr lang="ko-KR" altLang="en-US" sz="1100" dirty="0">
                <a:latin typeface="+mj-lt"/>
              </a:rPr>
              <a:t>양손으로 감싸 안거나 받쳐 올리는 듯한 하단 윙 블록은 안정적인 기반</a:t>
            </a:r>
            <a:r>
              <a:rPr lang="en-US" altLang="ko-KR" sz="1100" dirty="0">
                <a:latin typeface="+mj-lt"/>
              </a:rPr>
              <a:t>(Platform) </a:t>
            </a:r>
            <a:r>
              <a:rPr lang="ko-KR" altLang="en-US" sz="1100" dirty="0">
                <a:latin typeface="+mj-lt"/>
              </a:rPr>
              <a:t>위에서 아이디어를 육성하고 </a:t>
            </a:r>
            <a:r>
              <a:rPr lang="ko-KR" altLang="en-US" sz="1100" dirty="0" err="1">
                <a:latin typeface="+mj-lt"/>
              </a:rPr>
              <a:t>인큐베이팅하는</a:t>
            </a:r>
            <a:r>
              <a:rPr lang="ko-KR" altLang="en-US" sz="1100" dirty="0">
                <a:latin typeface="+mj-lt"/>
              </a:rPr>
              <a:t> 랩</a:t>
            </a:r>
            <a:r>
              <a:rPr lang="en-US" altLang="ko-KR" sz="1100" dirty="0">
                <a:latin typeface="+mj-lt"/>
              </a:rPr>
              <a:t>(Lab)</a:t>
            </a:r>
            <a:r>
              <a:rPr lang="ko-KR" altLang="en-US" sz="1100" dirty="0">
                <a:latin typeface="+mj-lt"/>
              </a:rPr>
              <a:t>의 기능을 상징</a:t>
            </a:r>
            <a:endParaRPr lang="en-US" altLang="ko-KR" sz="1100" dirty="0"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latin typeface="+mj-lt"/>
              </a:rPr>
              <a:t>네거티브 스페이스 화살표 </a:t>
            </a:r>
            <a:r>
              <a:rPr lang="en-US" altLang="ko-KR" sz="1100" b="1" dirty="0">
                <a:latin typeface="+mj-lt"/>
              </a:rPr>
              <a:t>(Negative Upward Arrow) </a:t>
            </a:r>
            <a:r>
              <a:rPr lang="ko-KR" altLang="en-US" sz="1100" dirty="0">
                <a:latin typeface="+mj-lt"/>
              </a:rPr>
              <a:t>는 </a:t>
            </a:r>
            <a:r>
              <a:rPr lang="en-US" altLang="ko-KR" sz="1100" dirty="0">
                <a:latin typeface="+mj-lt"/>
              </a:rPr>
              <a:t>4</a:t>
            </a:r>
            <a:r>
              <a:rPr lang="ko-KR" altLang="en-US" sz="1100" dirty="0">
                <a:latin typeface="+mj-lt"/>
              </a:rPr>
              <a:t>개의 블록이 마주하는 중심 여백에 자연스럽게 형성되는 상향 화살표</a:t>
            </a:r>
            <a:r>
              <a:rPr lang="en-US" altLang="ko-KR" sz="1100" dirty="0">
                <a:latin typeface="+mj-lt"/>
              </a:rPr>
              <a:t>(↑)</a:t>
            </a:r>
            <a:r>
              <a:rPr lang="ko-KR" altLang="en-US" sz="1100" dirty="0">
                <a:latin typeface="+mj-lt"/>
              </a:rPr>
              <a:t>는 </a:t>
            </a:r>
            <a:r>
              <a:rPr lang="en-US" altLang="ko-KR" sz="1100" dirty="0">
                <a:latin typeface="+mj-lt"/>
              </a:rPr>
              <a:t>'</a:t>
            </a:r>
            <a:r>
              <a:rPr lang="ko-KR" altLang="en-US" sz="1100" dirty="0">
                <a:latin typeface="+mj-lt"/>
              </a:rPr>
              <a:t>성장</a:t>
            </a:r>
            <a:r>
              <a:rPr lang="en-US" altLang="ko-KR" sz="1100" dirty="0">
                <a:latin typeface="+mj-lt"/>
              </a:rPr>
              <a:t>', '</a:t>
            </a:r>
            <a:r>
              <a:rPr lang="ko-KR" altLang="en-US" sz="1100" dirty="0">
                <a:latin typeface="+mj-lt"/>
              </a:rPr>
              <a:t>도약</a:t>
            </a:r>
            <a:r>
              <a:rPr lang="en-US" altLang="ko-KR" sz="1100" dirty="0">
                <a:latin typeface="+mj-lt"/>
              </a:rPr>
              <a:t>', '</a:t>
            </a:r>
            <a:r>
              <a:rPr lang="ko-KR" altLang="en-US" sz="1100" dirty="0">
                <a:latin typeface="+mj-lt"/>
              </a:rPr>
              <a:t>통찰의 발견</a:t>
            </a:r>
            <a:r>
              <a:rPr lang="en-US" altLang="ko-KR" sz="1100" dirty="0">
                <a:latin typeface="+mj-lt"/>
              </a:rPr>
              <a:t>'</a:t>
            </a:r>
            <a:r>
              <a:rPr lang="ko-KR" altLang="en-US" sz="1100" dirty="0">
                <a:latin typeface="+mj-lt"/>
              </a:rPr>
              <a:t>을 상징</a:t>
            </a:r>
            <a:r>
              <a:rPr lang="en-US" altLang="ko-KR" sz="1100" dirty="0">
                <a:latin typeface="+mj-lt"/>
              </a:rPr>
              <a:t>, </a:t>
            </a:r>
            <a:r>
              <a:rPr lang="ko-KR" altLang="en-US" sz="1100" dirty="0">
                <a:latin typeface="+mj-lt"/>
              </a:rPr>
              <a:t>여백을 디자인 요소로 활용하여 겉으로 드러나는 현상 이면의 본질적인 인사이트를 포착한다는 의미를 내포</a:t>
            </a:r>
            <a:endParaRPr lang="en-US" altLang="ko-KR" sz="1100" dirty="0"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latin typeface="+mj-lt"/>
              </a:rPr>
              <a:t>좌우 대칭과 수직 축 </a:t>
            </a:r>
            <a:r>
              <a:rPr lang="en-US" altLang="ko-KR" sz="1100" b="1" dirty="0">
                <a:latin typeface="+mj-lt"/>
              </a:rPr>
              <a:t>(Symmetry &amp; Convergence)</a:t>
            </a:r>
            <a:r>
              <a:rPr lang="ko-KR" altLang="en-US" sz="1100" dirty="0">
                <a:latin typeface="+mj-lt"/>
              </a:rPr>
              <a:t>은 중앙 </a:t>
            </a:r>
            <a:r>
              <a:rPr lang="ko-KR" altLang="en-US" sz="1100" dirty="0" err="1">
                <a:latin typeface="+mj-lt"/>
              </a:rPr>
              <a:t>수직축을</a:t>
            </a:r>
            <a:r>
              <a:rPr lang="ko-KR" altLang="en-US" sz="1100" dirty="0">
                <a:latin typeface="+mj-lt"/>
              </a:rPr>
              <a:t> 중심으로 배치된 좌우 대칭 구조는 데이터 분석의 </a:t>
            </a:r>
            <a:r>
              <a:rPr lang="ko-KR" altLang="en-US" sz="1100" b="1" dirty="0">
                <a:latin typeface="+mj-lt"/>
              </a:rPr>
              <a:t>객관성</a:t>
            </a:r>
            <a:r>
              <a:rPr lang="ko-KR" altLang="en-US" sz="1100" dirty="0">
                <a:latin typeface="+mj-lt"/>
              </a:rPr>
              <a:t>과 </a:t>
            </a:r>
            <a:r>
              <a:rPr lang="ko-KR" altLang="en-US" sz="1100" b="1" dirty="0">
                <a:latin typeface="+mj-lt"/>
              </a:rPr>
              <a:t>균형 감각</a:t>
            </a:r>
            <a:r>
              <a:rPr lang="ko-KR" altLang="en-US" sz="1100" dirty="0">
                <a:latin typeface="+mj-lt"/>
              </a:rPr>
              <a:t>을</a:t>
            </a:r>
            <a:r>
              <a:rPr lang="en-US" altLang="ko-KR" sz="1100" dirty="0">
                <a:latin typeface="+mj-lt"/>
              </a:rPr>
              <a:t>, </a:t>
            </a:r>
            <a:r>
              <a:rPr lang="ko-KR" altLang="en-US" sz="1100" dirty="0">
                <a:latin typeface="+mj-lt"/>
              </a:rPr>
              <a:t>여러 갈래의 관점이 하나의 명확한 결론</a:t>
            </a:r>
            <a:r>
              <a:rPr lang="en-US" altLang="ko-KR" sz="1100" dirty="0">
                <a:latin typeface="+mj-lt"/>
              </a:rPr>
              <a:t>(Insight)</a:t>
            </a:r>
            <a:r>
              <a:rPr lang="ko-KR" altLang="en-US" sz="1100" dirty="0">
                <a:latin typeface="+mj-lt"/>
              </a:rPr>
              <a:t>으로 수렴됨을 의미</a:t>
            </a:r>
            <a:endParaRPr lang="en-US" altLang="ko-KR" sz="1100" dirty="0"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1" dirty="0">
                <a:latin typeface="+mj-lt"/>
              </a:rPr>
              <a:t>워드마크 </a:t>
            </a:r>
            <a:r>
              <a:rPr lang="en-US" altLang="ko-KR" sz="1100" b="1" dirty="0">
                <a:latin typeface="+mj-lt"/>
              </a:rPr>
              <a:t>'On'</a:t>
            </a:r>
            <a:r>
              <a:rPr lang="ko-KR" altLang="en-US" sz="1100" b="1" dirty="0">
                <a:latin typeface="+mj-lt"/>
              </a:rPr>
              <a:t>의 전원 심볼 </a:t>
            </a:r>
            <a:r>
              <a:rPr lang="en-US" altLang="ko-KR" sz="1100" b="1" dirty="0">
                <a:latin typeface="+mj-lt"/>
              </a:rPr>
              <a:t>(Power On) </a:t>
            </a:r>
            <a:r>
              <a:rPr lang="ko-KR" altLang="en-US" sz="1100" dirty="0">
                <a:latin typeface="+mj-lt"/>
              </a:rPr>
              <a:t>은 영문 로고 </a:t>
            </a:r>
            <a:r>
              <a:rPr lang="en-US" altLang="ko-KR" sz="1100" dirty="0">
                <a:latin typeface="+mj-lt"/>
              </a:rPr>
              <a:t>'On'</a:t>
            </a:r>
            <a:r>
              <a:rPr lang="ko-KR" altLang="en-US" sz="1100" dirty="0">
                <a:latin typeface="+mj-lt"/>
              </a:rPr>
              <a:t>의 </a:t>
            </a:r>
            <a:r>
              <a:rPr lang="en-US" altLang="ko-KR" sz="1100" dirty="0">
                <a:latin typeface="+mj-lt"/>
              </a:rPr>
              <a:t>'O'</a:t>
            </a:r>
            <a:r>
              <a:rPr lang="ko-KR" altLang="en-US" sz="1100" dirty="0">
                <a:latin typeface="+mj-lt"/>
              </a:rPr>
              <a:t>에 결합된 전원 버튼</a:t>
            </a:r>
            <a:r>
              <a:rPr lang="en-US" altLang="ko-KR" sz="1100" dirty="0">
                <a:latin typeface="+mj-lt"/>
              </a:rPr>
              <a:t>(Power Icon) </a:t>
            </a:r>
            <a:r>
              <a:rPr lang="ko-KR" altLang="en-US" sz="1100" dirty="0">
                <a:latin typeface="+mj-lt"/>
              </a:rPr>
              <a:t>조형은 시스템과 솔루션을 즉각 가동</a:t>
            </a:r>
            <a:r>
              <a:rPr lang="en-US" altLang="ko-KR" sz="1100" dirty="0">
                <a:latin typeface="+mj-lt"/>
              </a:rPr>
              <a:t>(Turn On)</a:t>
            </a:r>
            <a:r>
              <a:rPr lang="ko-KR" altLang="en-US" sz="1100" dirty="0">
                <a:latin typeface="+mj-lt"/>
              </a:rPr>
              <a:t>시키는 실천적 실행력을 나타냄</a:t>
            </a:r>
            <a:r>
              <a:rPr lang="en-US" altLang="ko-KR" sz="1100" dirty="0">
                <a:latin typeface="+mj-lt"/>
              </a:rPr>
              <a:t>.</a:t>
            </a:r>
            <a:r>
              <a:rPr lang="ko-KR" altLang="en-US" sz="1100" dirty="0">
                <a:latin typeface="+mj-lt"/>
              </a:rPr>
              <a:t> </a:t>
            </a:r>
            <a:endParaRPr lang="en-US" altLang="ko-KR" sz="1100" dirty="0">
              <a:latin typeface="+mj-lt"/>
            </a:endParaRPr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B8130466-6FC3-4135-B2D5-6E834B56F58C}"/>
              </a:ext>
            </a:extLst>
          </p:cNvPr>
          <p:cNvSpPr/>
          <p:nvPr/>
        </p:nvSpPr>
        <p:spPr>
          <a:xfrm flipH="1">
            <a:off x="9822098" y="3266114"/>
            <a:ext cx="1672372" cy="1940815"/>
          </a:xfrm>
          <a:custGeom>
            <a:avLst/>
            <a:gdLst>
              <a:gd name="connsiteX0" fmla="*/ 0 w 4592561"/>
              <a:gd name="connsiteY0" fmla="*/ 0 h 5391150"/>
              <a:gd name="connsiteX1" fmla="*/ 4592561 w 4592561"/>
              <a:gd name="connsiteY1" fmla="*/ 3144759 h 5391150"/>
              <a:gd name="connsiteX2" fmla="*/ 4495800 w 4592561"/>
              <a:gd name="connsiteY2" fmla="*/ 5391150 h 5391150"/>
              <a:gd name="connsiteX3" fmla="*/ 0 w 4592561"/>
              <a:gd name="connsiteY3" fmla="*/ 5391150 h 5391150"/>
              <a:gd name="connsiteX4" fmla="*/ 0 w 4592561"/>
              <a:gd name="connsiteY4" fmla="*/ 0 h 5391150"/>
              <a:gd name="connsiteX0" fmla="*/ 0 w 4616753"/>
              <a:gd name="connsiteY0" fmla="*/ 0 h 5391150"/>
              <a:gd name="connsiteX1" fmla="*/ 4592561 w 4616753"/>
              <a:gd name="connsiteY1" fmla="*/ 3144759 h 5391150"/>
              <a:gd name="connsiteX2" fmla="*/ 4616753 w 4616753"/>
              <a:gd name="connsiteY2" fmla="*/ 5391150 h 5391150"/>
              <a:gd name="connsiteX3" fmla="*/ 0 w 4616753"/>
              <a:gd name="connsiteY3" fmla="*/ 5391150 h 5391150"/>
              <a:gd name="connsiteX4" fmla="*/ 0 w 4616753"/>
              <a:gd name="connsiteY4" fmla="*/ 0 h 5391150"/>
              <a:gd name="connsiteX0" fmla="*/ 0 w 4645478"/>
              <a:gd name="connsiteY0" fmla="*/ 0 h 5391150"/>
              <a:gd name="connsiteX1" fmla="*/ 4645478 w 4645478"/>
              <a:gd name="connsiteY1" fmla="*/ 3118301 h 5391150"/>
              <a:gd name="connsiteX2" fmla="*/ 4616753 w 4645478"/>
              <a:gd name="connsiteY2" fmla="*/ 5391150 h 5391150"/>
              <a:gd name="connsiteX3" fmla="*/ 0 w 4645478"/>
              <a:gd name="connsiteY3" fmla="*/ 5391150 h 5391150"/>
              <a:gd name="connsiteX4" fmla="*/ 0 w 4645478"/>
              <a:gd name="connsiteY4" fmla="*/ 0 h 539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5478" h="5391150">
                <a:moveTo>
                  <a:pt x="0" y="0"/>
                </a:moveTo>
                <a:lnTo>
                  <a:pt x="4645478" y="3118301"/>
                </a:lnTo>
                <a:lnTo>
                  <a:pt x="4616753" y="5391150"/>
                </a:lnTo>
                <a:lnTo>
                  <a:pt x="0" y="5391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783009A-0A18-40FD-A798-558478F78A4E}"/>
              </a:ext>
            </a:extLst>
          </p:cNvPr>
          <p:cNvGrpSpPr/>
          <p:nvPr/>
        </p:nvGrpSpPr>
        <p:grpSpPr>
          <a:xfrm>
            <a:off x="1027554" y="423906"/>
            <a:ext cx="3641821" cy="584775"/>
            <a:chOff x="5323329" y="412884"/>
            <a:chExt cx="3641821" cy="58477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B0B7947-13A8-4029-A2A1-D568325CC2AF}"/>
                </a:ext>
              </a:extLst>
            </p:cNvPr>
            <p:cNvSpPr txBox="1"/>
            <p:nvPr/>
          </p:nvSpPr>
          <p:spPr>
            <a:xfrm>
              <a:off x="5541589" y="412884"/>
              <a:ext cx="342356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b="1" dirty="0"/>
                <a:t>n Insight Lab CI</a:t>
              </a:r>
              <a:endParaRPr lang="ko-KR" altLang="en-US" sz="3200" b="1" dirty="0"/>
            </a:p>
          </p:txBody>
        </p:sp>
        <p:pic>
          <p:nvPicPr>
            <p:cNvPr id="35" name="그래픽 34" descr="제곱">
              <a:extLst>
                <a:ext uri="{FF2B5EF4-FFF2-40B4-BE49-F238E27FC236}">
                  <a16:creationId xmlns:a16="http://schemas.microsoft.com/office/drawing/2014/main" id="{72F64968-F37B-4952-9250-45F8DD8F3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23329" y="463176"/>
              <a:ext cx="436521" cy="43652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570852F-232B-47CE-9BE0-EF925CB7B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548127"/>
              </p:ext>
            </p:extLst>
          </p:nvPr>
        </p:nvGraphicFramePr>
        <p:xfrm>
          <a:off x="1212882" y="1320999"/>
          <a:ext cx="9766236" cy="4351337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1869553">
                  <a:extLst>
                    <a:ext uri="{9D8B030D-6E8A-4147-A177-3AD203B41FA5}">
                      <a16:colId xmlns:a16="http://schemas.microsoft.com/office/drawing/2014/main" val="1735520074"/>
                    </a:ext>
                  </a:extLst>
                </a:gridCol>
                <a:gridCol w="2198508">
                  <a:extLst>
                    <a:ext uri="{9D8B030D-6E8A-4147-A177-3AD203B41FA5}">
                      <a16:colId xmlns:a16="http://schemas.microsoft.com/office/drawing/2014/main" val="2106219691"/>
                    </a:ext>
                  </a:extLst>
                </a:gridCol>
                <a:gridCol w="5698175">
                  <a:extLst>
                    <a:ext uri="{9D8B030D-6E8A-4147-A177-3AD203B41FA5}">
                      <a16:colId xmlns:a16="http://schemas.microsoft.com/office/drawing/2014/main" val="1504010096"/>
                    </a:ext>
                  </a:extLst>
                </a:gridCol>
              </a:tblGrid>
              <a:tr h="352092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100" dirty="0">
                          <a:effectLst/>
                        </a:rPr>
                        <a:t>색상</a:t>
                      </a:r>
                      <a:endParaRPr lang="ko-KR" altLang="en-US" sz="11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94282" marR="94282" marT="62855" marB="62855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100" dirty="0">
                          <a:effectLst/>
                        </a:rPr>
                        <a:t>조형 적용 부위</a:t>
                      </a:r>
                      <a:endParaRPr lang="ko-KR" altLang="en-US" sz="11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94282" marR="94282" marT="62855" marB="62855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100" dirty="0">
                          <a:effectLst/>
                        </a:rPr>
                        <a:t>브랜드 가치 및 상징 의미</a:t>
                      </a:r>
                      <a:endParaRPr lang="ko-KR" altLang="en-US" sz="11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94282" marR="94282" marT="62855" marB="62855" anchor="ctr"/>
                </a:tc>
                <a:extLst>
                  <a:ext uri="{0D108BD9-81ED-4DB2-BD59-A6C34878D82A}">
                    <a16:rowId xmlns:a16="http://schemas.microsoft.com/office/drawing/2014/main" val="2128408261"/>
                  </a:ext>
                </a:extLst>
              </a:tr>
              <a:tr h="1257621">
                <a:tc>
                  <a:txBody>
                    <a:bodyPr/>
                    <a:lstStyle/>
                    <a:p>
                      <a:pPr algn="ctr" rtl="0"/>
                      <a:r>
                        <a:rPr lang="en-US" sz="1100" dirty="0">
                          <a:effectLst/>
                        </a:rPr>
                        <a:t>Insight Light Blue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94282" marR="94282" marT="62855" marB="62855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100" dirty="0">
                          <a:effectLst/>
                        </a:rPr>
                        <a:t>심볼 좌측</a:t>
                      </a:r>
                      <a:r>
                        <a:rPr lang="en-US" altLang="ko-KR" sz="1100" dirty="0">
                          <a:effectLst/>
                        </a:rPr>
                        <a:t>/</a:t>
                      </a:r>
                      <a:r>
                        <a:rPr lang="ko-KR" altLang="en-US" sz="1100" dirty="0">
                          <a:effectLst/>
                        </a:rPr>
                        <a:t>우측하단 블록</a:t>
                      </a:r>
                      <a:endParaRPr lang="ko-KR" altLang="en-US" sz="11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94282" marR="94282" marT="62855" marB="6285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dirty="0">
                          <a:effectLst/>
                        </a:rPr>
                        <a:t>혁신</a:t>
                      </a:r>
                      <a:r>
                        <a:rPr lang="en-US" altLang="ko-KR" sz="1100" dirty="0">
                          <a:effectLst/>
                        </a:rPr>
                        <a:t>(Innovation) &amp; </a:t>
                      </a:r>
                      <a:r>
                        <a:rPr lang="ko-KR" altLang="en-US" sz="1100" dirty="0">
                          <a:effectLst/>
                        </a:rPr>
                        <a:t>유연성</a:t>
                      </a:r>
                      <a:r>
                        <a:rPr lang="en-US" altLang="ko-KR" sz="1100" dirty="0">
                          <a:effectLst/>
                        </a:rPr>
                        <a:t>(Agility)</a:t>
                      </a:r>
                      <a:endParaRPr lang="ko-KR" altLang="en-US" sz="1100" dirty="0">
                        <a:effectLst/>
                      </a:endParaRPr>
                    </a:p>
                    <a:p>
                      <a:pPr rtl="0"/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ko-KR" altLang="en-US" sz="1100" dirty="0">
                          <a:effectLst/>
                        </a:rPr>
                        <a:t>미래지향적 비전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창의적 통찰력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경쾌하고 유연한 문제 해결 방식을 상징합니다</a:t>
                      </a:r>
                      <a:r>
                        <a:rPr lang="en-US" altLang="ko-KR" sz="1100" dirty="0">
                          <a:effectLst/>
                        </a:rPr>
                        <a:t>.</a:t>
                      </a:r>
                      <a:endParaRPr lang="en-US" altLang="ko-KR" sz="11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94282" marR="94282" marT="62855" marB="62855" anchor="ctr"/>
                </a:tc>
                <a:extLst>
                  <a:ext uri="{0D108BD9-81ED-4DB2-BD59-A6C34878D82A}">
                    <a16:rowId xmlns:a16="http://schemas.microsoft.com/office/drawing/2014/main" val="2557103518"/>
                  </a:ext>
                </a:extLst>
              </a:tr>
              <a:tr h="1257621">
                <a:tc>
                  <a:txBody>
                    <a:bodyPr/>
                    <a:lstStyle/>
                    <a:p>
                      <a:pPr algn="ctr" rtl="0"/>
                      <a:r>
                        <a:rPr lang="en-US" sz="1100" dirty="0">
                          <a:effectLst/>
                        </a:rPr>
                        <a:t>Insight Deep Navy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94282" marR="94282" marT="62855" marB="62855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100" dirty="0">
                          <a:effectLst/>
                        </a:rPr>
                        <a:t>심볼 우측 상단블록</a:t>
                      </a:r>
                      <a:endParaRPr lang="ko-KR" altLang="en-US" sz="11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94282" marR="94282" marT="62855" marB="6285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dirty="0">
                          <a:effectLst/>
                        </a:rPr>
                        <a:t>신뢰</a:t>
                      </a:r>
                      <a:r>
                        <a:rPr lang="en-US" altLang="ko-KR" sz="1100" dirty="0">
                          <a:effectLst/>
                        </a:rPr>
                        <a:t>(Trust) &amp; </a:t>
                      </a:r>
                      <a:r>
                        <a:rPr lang="ko-KR" altLang="en-US" sz="1100" dirty="0">
                          <a:effectLst/>
                        </a:rPr>
                        <a:t>전문성</a:t>
                      </a:r>
                      <a:r>
                        <a:rPr lang="en-US" altLang="ko-KR" sz="1100" dirty="0">
                          <a:effectLst/>
                        </a:rPr>
                        <a:t>(Expertise)</a:t>
                      </a:r>
                      <a:endParaRPr lang="ko-KR" altLang="en-US" sz="1100" dirty="0">
                        <a:effectLst/>
                      </a:endParaRPr>
                    </a:p>
                    <a:p>
                      <a:pPr rtl="0"/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ko-KR" altLang="en-US" sz="1100" dirty="0">
                          <a:effectLst/>
                        </a:rPr>
                        <a:t>학술적 연구 역량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데이터 기반의 단단한 전문 지식</a:t>
                      </a:r>
                      <a:r>
                        <a:rPr lang="en-US" altLang="ko-KR" sz="1100" dirty="0">
                          <a:effectLst/>
                        </a:rPr>
                        <a:t>, </a:t>
                      </a:r>
                      <a:r>
                        <a:rPr lang="ko-KR" altLang="en-US" sz="1100" dirty="0">
                          <a:effectLst/>
                        </a:rPr>
                        <a:t>안정적인 기술 인프라를 의미합니다</a:t>
                      </a:r>
                      <a:r>
                        <a:rPr lang="en-US" altLang="ko-KR" sz="1100" dirty="0">
                          <a:effectLst/>
                        </a:rPr>
                        <a:t>.</a:t>
                      </a:r>
                      <a:endParaRPr lang="en-US" altLang="ko-KR" sz="11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94282" marR="94282" marT="62855" marB="62855" anchor="ctr"/>
                </a:tc>
                <a:extLst>
                  <a:ext uri="{0D108BD9-81ED-4DB2-BD59-A6C34878D82A}">
                    <a16:rowId xmlns:a16="http://schemas.microsoft.com/office/drawing/2014/main" val="18366458"/>
                  </a:ext>
                </a:extLst>
              </a:tr>
              <a:tr h="1484003">
                <a:tc>
                  <a:txBody>
                    <a:bodyPr/>
                    <a:lstStyle/>
                    <a:p>
                      <a:pPr algn="ctr" rtl="0"/>
                      <a:r>
                        <a:rPr lang="en-US" sz="1100" dirty="0">
                          <a:effectLst/>
                        </a:rPr>
                        <a:t>Two-Tone Contrast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94282" marR="94282" marT="62855" marB="62855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100" dirty="0">
                          <a:effectLst/>
                        </a:rPr>
                        <a:t>컬러 대비</a:t>
                      </a:r>
                      <a:endParaRPr lang="ko-KR" altLang="en-US" sz="11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94282" marR="94282" marT="62855" marB="62855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100" dirty="0" err="1">
                          <a:effectLst/>
                        </a:rPr>
                        <a:t>통섭</a:t>
                      </a:r>
                      <a:r>
                        <a:rPr lang="en-US" altLang="ko-KR" sz="1100" dirty="0">
                          <a:effectLst/>
                        </a:rPr>
                        <a:t>(Convergence)</a:t>
                      </a:r>
                      <a:endParaRPr lang="ko-KR" altLang="en-US" sz="1100" dirty="0">
                        <a:effectLst/>
                      </a:endParaRPr>
                    </a:p>
                    <a:p>
                      <a:pPr rtl="0"/>
                      <a:br>
                        <a:rPr lang="ko-KR" altLang="en-US" sz="1100" dirty="0">
                          <a:effectLst/>
                        </a:rPr>
                      </a:br>
                      <a:r>
                        <a:rPr lang="ko-KR" altLang="en-US" sz="1100" dirty="0">
                          <a:effectLst/>
                        </a:rPr>
                        <a:t>창의적 아이디어</a:t>
                      </a:r>
                      <a:r>
                        <a:rPr lang="en-US" altLang="ko-KR" sz="1100" dirty="0">
                          <a:effectLst/>
                        </a:rPr>
                        <a:t>(Light Blue)</a:t>
                      </a:r>
                      <a:r>
                        <a:rPr lang="ko-KR" altLang="en-US" sz="1100" dirty="0">
                          <a:effectLst/>
                        </a:rPr>
                        <a:t>와 논리적 전문성</a:t>
                      </a:r>
                      <a:r>
                        <a:rPr lang="en-US" altLang="ko-KR" sz="1100" dirty="0">
                          <a:effectLst/>
                        </a:rPr>
                        <a:t>(Deep Navy)</a:t>
                      </a:r>
                      <a:r>
                        <a:rPr lang="ko-KR" altLang="en-US" sz="1100" dirty="0">
                          <a:effectLst/>
                        </a:rPr>
                        <a:t>이 결합하여 완전한 입체 솔루션을 완성한다는 의미를 전달합니다</a:t>
                      </a:r>
                      <a:r>
                        <a:rPr lang="en-US" altLang="ko-KR" sz="1100" dirty="0">
                          <a:effectLst/>
                        </a:rPr>
                        <a:t>.</a:t>
                      </a:r>
                      <a:endParaRPr lang="en-US" altLang="ko-KR" sz="11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94282" marR="94282" marT="62855" marB="62855" anchor="ctr"/>
                </a:tc>
                <a:extLst>
                  <a:ext uri="{0D108BD9-81ED-4DB2-BD59-A6C34878D82A}">
                    <a16:rowId xmlns:a16="http://schemas.microsoft.com/office/drawing/2014/main" val="504829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76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8397C6A5-4462-44FA-A765-FAF692284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076" y="947692"/>
            <a:ext cx="7572374" cy="4948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 eaLnBrk="0" fontAlgn="base" latinLnBrk="0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ko-KR" altLang="en-US" sz="1100" b="1" dirty="0">
                <a:latin typeface="+mj-lt"/>
                <a:ea typeface="Google Sans"/>
              </a:rPr>
              <a:t>그리드 시스템 </a:t>
            </a:r>
            <a:r>
              <a:rPr lang="en-US" altLang="ko-KR" sz="1100" b="1" dirty="0">
                <a:latin typeface="+mj-lt"/>
                <a:ea typeface="Google Sans"/>
              </a:rPr>
              <a:t>(Grid System &amp; Proportion)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+mj-lt"/>
                <a:ea typeface="Google Sans"/>
              </a:rPr>
              <a:t>  </a:t>
            </a:r>
            <a:r>
              <a:rPr lang="ko-KR" altLang="en-US" sz="1100" dirty="0">
                <a:latin typeface="+mj-lt"/>
                <a:ea typeface="Google Sans"/>
              </a:rPr>
              <a:t>심볼마크와 로고타입의 일관된 조형 유지를 위해 기본 모듈 단위 </a:t>
            </a:r>
            <a:r>
              <a:rPr lang="en-US" altLang="ko-KR" sz="1100" dirty="0">
                <a:latin typeface="+mj-lt"/>
                <a:ea typeface="Google Sans"/>
              </a:rPr>
              <a:t>a(Square Unit)</a:t>
            </a:r>
            <a:r>
              <a:rPr lang="ko-KR" altLang="en-US" sz="1100" dirty="0">
                <a:latin typeface="+mj-lt"/>
                <a:ea typeface="Google Sans"/>
              </a:rPr>
              <a:t>를 기준으로 비례 규정</a:t>
            </a:r>
            <a:endParaRPr lang="en-US" altLang="ko-KR" sz="1100" dirty="0">
              <a:latin typeface="+mj-lt"/>
              <a:ea typeface="Google Sans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+mj-lt"/>
                <a:ea typeface="Google Sans"/>
              </a:rPr>
              <a:t>  </a:t>
            </a:r>
            <a:r>
              <a:rPr lang="ko-KR" altLang="en-US" sz="1100" dirty="0">
                <a:latin typeface="+mj-lt"/>
                <a:ea typeface="Google Sans"/>
              </a:rPr>
              <a:t>심볼마크 </a:t>
            </a:r>
            <a:r>
              <a:rPr lang="ko-KR" altLang="en-US" sz="1100" dirty="0" err="1">
                <a:latin typeface="+mj-lt"/>
                <a:ea typeface="Google Sans"/>
              </a:rPr>
              <a:t>바운딩</a:t>
            </a:r>
            <a:r>
              <a:rPr lang="ko-KR" altLang="en-US" sz="1100" dirty="0">
                <a:latin typeface="+mj-lt"/>
                <a:ea typeface="Google Sans"/>
              </a:rPr>
              <a:t> 규격</a:t>
            </a:r>
            <a:r>
              <a:rPr lang="en-US" altLang="ko-KR" sz="1100" dirty="0">
                <a:latin typeface="+mj-lt"/>
                <a:ea typeface="Google Sans"/>
              </a:rPr>
              <a:t> 16a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×16a </a:t>
            </a:r>
            <a:r>
              <a:rPr lang="en-US" altLang="ko-KR" sz="1100" dirty="0">
                <a:latin typeface="+mj-lt"/>
                <a:ea typeface="Google Sans"/>
              </a:rPr>
              <a:t>(</a:t>
            </a:r>
            <a:r>
              <a:rPr lang="ko-KR" altLang="en-US" sz="1100" dirty="0">
                <a:latin typeface="+mj-lt"/>
                <a:ea typeface="Google Sans"/>
              </a:rPr>
              <a:t>정사각형 그리드 영역 내 배치</a:t>
            </a:r>
            <a:r>
              <a:rPr lang="en-US" altLang="ko-KR" sz="1100" dirty="0">
                <a:latin typeface="+mj-lt"/>
                <a:ea typeface="Google Sans"/>
              </a:rPr>
              <a:t>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+mj-lt"/>
                <a:ea typeface="Google Sans"/>
              </a:rPr>
              <a:t>  </a:t>
            </a:r>
            <a:r>
              <a:rPr lang="ko-KR" altLang="en-US" sz="1100" dirty="0">
                <a:latin typeface="+mj-lt"/>
                <a:ea typeface="Google Sans"/>
              </a:rPr>
              <a:t>좌우 대칭 구조 중앙 수직 중심축을 기준으로 </a:t>
            </a:r>
            <a:r>
              <a:rPr lang="en-US" altLang="ko-KR" sz="1100" dirty="0">
                <a:latin typeface="+mj-lt"/>
                <a:ea typeface="Google Sans"/>
              </a:rPr>
              <a:t>8a : 8a </a:t>
            </a:r>
            <a:r>
              <a:rPr lang="ko-KR" altLang="en-US" sz="1100" dirty="0">
                <a:latin typeface="+mj-lt"/>
                <a:ea typeface="Google Sans"/>
              </a:rPr>
              <a:t>대칭</a:t>
            </a:r>
            <a:endParaRPr lang="en-US" altLang="ko-KR" sz="1100" dirty="0">
              <a:latin typeface="+mj-lt"/>
              <a:ea typeface="Google Sans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+mj-lt"/>
                <a:ea typeface="Google Sans"/>
              </a:rPr>
              <a:t>  </a:t>
            </a:r>
            <a:r>
              <a:rPr lang="ko-KR" altLang="en-US" sz="1100" dirty="0">
                <a:latin typeface="+mj-lt"/>
                <a:ea typeface="Google Sans"/>
              </a:rPr>
              <a:t>중앙 여백</a:t>
            </a:r>
            <a:r>
              <a:rPr lang="en-US" altLang="ko-KR" sz="1100" dirty="0">
                <a:latin typeface="+mj-lt"/>
                <a:ea typeface="Google Sans"/>
              </a:rPr>
              <a:t>(</a:t>
            </a:r>
            <a:r>
              <a:rPr lang="ko-KR" altLang="en-US" sz="1100" dirty="0">
                <a:latin typeface="+mj-lt"/>
                <a:ea typeface="Google Sans"/>
              </a:rPr>
              <a:t>네거티브 스페이스</a:t>
            </a:r>
            <a:r>
              <a:rPr lang="en-US" altLang="ko-KR" sz="1100" dirty="0">
                <a:latin typeface="+mj-lt"/>
                <a:ea typeface="Google Sans"/>
              </a:rPr>
              <a:t>)  </a:t>
            </a:r>
            <a:r>
              <a:rPr lang="ko-KR" altLang="en-US" sz="1100" dirty="0">
                <a:latin typeface="+mj-lt"/>
                <a:ea typeface="Google Sans"/>
              </a:rPr>
              <a:t>중앙 화살표</a:t>
            </a:r>
            <a:r>
              <a:rPr lang="en-US" altLang="ko-KR" sz="1100" dirty="0">
                <a:latin typeface="+mj-lt"/>
                <a:ea typeface="Google Sans"/>
              </a:rPr>
              <a:t>/</a:t>
            </a:r>
            <a:r>
              <a:rPr lang="ko-KR" altLang="en-US" sz="1100" dirty="0">
                <a:latin typeface="+mj-lt"/>
                <a:ea typeface="Google Sans"/>
              </a:rPr>
              <a:t>크로스 형태의 간격 너비 </a:t>
            </a:r>
            <a:r>
              <a:rPr lang="en-US" altLang="ko-KR" sz="1100" dirty="0">
                <a:latin typeface="+mj-lt"/>
                <a:ea typeface="Google Sans"/>
              </a:rPr>
              <a:t>2a </a:t>
            </a:r>
            <a:r>
              <a:rPr lang="ko-KR" altLang="en-US" sz="1100" dirty="0">
                <a:latin typeface="+mj-lt"/>
                <a:ea typeface="Google Sans"/>
              </a:rPr>
              <a:t>유지</a:t>
            </a:r>
            <a:endParaRPr lang="en-US" altLang="ko-KR" sz="1100" dirty="0">
              <a:latin typeface="+mj-lt"/>
              <a:ea typeface="Google Sans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+mj-lt"/>
                <a:ea typeface="Google Sans"/>
              </a:rPr>
              <a:t>  </a:t>
            </a:r>
            <a:r>
              <a:rPr lang="ko-KR" altLang="en-US" sz="1100" dirty="0">
                <a:latin typeface="+mj-lt"/>
                <a:ea typeface="Google Sans"/>
              </a:rPr>
              <a:t>기하학적 블록 각도</a:t>
            </a:r>
            <a:r>
              <a:rPr lang="en-US" altLang="ko-KR" sz="1100" dirty="0">
                <a:latin typeface="+mj-lt"/>
                <a:ea typeface="Google Sans"/>
              </a:rPr>
              <a:t> </a:t>
            </a:r>
            <a:r>
              <a:rPr lang="ko-KR" altLang="en-US" sz="1100" dirty="0" err="1">
                <a:latin typeface="+mj-lt"/>
                <a:ea typeface="Google Sans"/>
              </a:rPr>
              <a:t>아이소메트릭</a:t>
            </a:r>
            <a:r>
              <a:rPr lang="ko-KR" altLang="en-US" sz="1100" dirty="0">
                <a:latin typeface="+mj-lt"/>
                <a:ea typeface="Google Sans"/>
              </a:rPr>
              <a:t> </a:t>
            </a:r>
            <a:r>
              <a:rPr lang="ko-KR" altLang="en-US" sz="1100" dirty="0" err="1">
                <a:latin typeface="+mj-lt"/>
                <a:ea typeface="Google Sans"/>
              </a:rPr>
              <a:t>사축</a:t>
            </a:r>
            <a:r>
              <a:rPr lang="ko-KR" altLang="en-US" sz="1100" dirty="0">
                <a:latin typeface="+mj-lt"/>
                <a:ea typeface="Google Sans"/>
              </a:rPr>
              <a:t> 투영에 기반한 </a:t>
            </a:r>
            <a:r>
              <a:rPr lang="en-US" altLang="ko-KR" sz="1100" dirty="0">
                <a:latin typeface="+mj-lt"/>
                <a:ea typeface="Google Sans"/>
              </a:rPr>
              <a:t>30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°</a:t>
            </a:r>
            <a:r>
              <a:rPr lang="en-US" altLang="ko-KR" sz="1100" dirty="0">
                <a:latin typeface="+mj-lt"/>
                <a:ea typeface="Google Sans"/>
              </a:rPr>
              <a:t>^/60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°</a:t>
            </a:r>
            <a:r>
              <a:rPr lang="en-US" altLang="ko-KR" sz="1100" dirty="0">
                <a:latin typeface="+mj-lt"/>
                <a:ea typeface="Google Sans"/>
              </a:rPr>
              <a:t> </a:t>
            </a:r>
            <a:r>
              <a:rPr lang="ko-KR" altLang="en-US" sz="1100" dirty="0">
                <a:latin typeface="+mj-lt"/>
                <a:ea typeface="Google Sans"/>
              </a:rPr>
              <a:t>경사면 적용</a:t>
            </a:r>
            <a:endParaRPr lang="en-US" altLang="ko-KR" sz="1100" dirty="0">
              <a:latin typeface="+mj-lt"/>
              <a:ea typeface="Google Sans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+mj-lt"/>
                <a:ea typeface="Google Sans"/>
              </a:rPr>
              <a:t>  </a:t>
            </a:r>
            <a:r>
              <a:rPr lang="ko-KR" altLang="en-US" sz="1100" dirty="0">
                <a:latin typeface="+mj-lt"/>
                <a:ea typeface="Google Sans"/>
              </a:rPr>
              <a:t>심볼과 로고타입 간격</a:t>
            </a:r>
            <a:r>
              <a:rPr lang="en-US" altLang="ko-KR" sz="1100" dirty="0">
                <a:latin typeface="+mj-lt"/>
                <a:ea typeface="Google Sans"/>
              </a:rPr>
              <a:t> </a:t>
            </a:r>
            <a:r>
              <a:rPr lang="ko-KR" altLang="en-US" sz="1100" dirty="0">
                <a:latin typeface="+mj-lt"/>
                <a:ea typeface="Google Sans"/>
              </a:rPr>
              <a:t>심볼마크 하단 기준선과 영문 로고타입 상단</a:t>
            </a:r>
            <a:r>
              <a:rPr lang="en-US" altLang="ko-KR" sz="1100" dirty="0">
                <a:latin typeface="+mj-lt"/>
                <a:ea typeface="Google Sans"/>
              </a:rPr>
              <a:t>(Cap Height) </a:t>
            </a:r>
            <a:r>
              <a:rPr lang="ko-KR" altLang="en-US" sz="1100" dirty="0">
                <a:latin typeface="+mj-lt"/>
                <a:ea typeface="Google Sans"/>
              </a:rPr>
              <a:t>간격은 </a:t>
            </a:r>
            <a:r>
              <a:rPr lang="en-US" altLang="ko-KR" sz="1100" dirty="0">
                <a:latin typeface="+mj-lt"/>
                <a:ea typeface="Google Sans"/>
              </a:rPr>
              <a:t>3a</a:t>
            </a:r>
            <a:r>
              <a:rPr lang="ko-KR" altLang="en-US" sz="1100" dirty="0">
                <a:latin typeface="+mj-lt"/>
                <a:ea typeface="Google Sans"/>
              </a:rPr>
              <a:t>로 고정</a:t>
            </a:r>
            <a:endParaRPr lang="en-US" altLang="ko-KR" sz="1100" dirty="0">
              <a:latin typeface="+mj-lt"/>
              <a:ea typeface="Google Sans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+mj-lt"/>
                <a:ea typeface="Google Sans"/>
              </a:rPr>
              <a:t>  </a:t>
            </a:r>
            <a:r>
              <a:rPr lang="ko-KR" altLang="en-US" sz="1100" dirty="0">
                <a:latin typeface="+mj-lt"/>
                <a:ea typeface="Google Sans"/>
              </a:rPr>
              <a:t>로고타입 규격 </a:t>
            </a:r>
            <a:r>
              <a:rPr lang="en-US" altLang="ko-KR" sz="1100" dirty="0">
                <a:latin typeface="+mj-lt"/>
                <a:ea typeface="Google Sans"/>
              </a:rPr>
              <a:t>(On Insight Lab) </a:t>
            </a:r>
            <a:r>
              <a:rPr lang="ko-KR" altLang="en-US" sz="1100" dirty="0">
                <a:latin typeface="+mj-lt"/>
                <a:ea typeface="Google Sans"/>
              </a:rPr>
              <a:t>로고 높이</a:t>
            </a:r>
            <a:r>
              <a:rPr lang="en-US" altLang="ko-KR" sz="1100" dirty="0">
                <a:latin typeface="+mj-lt"/>
                <a:ea typeface="Google Sans"/>
              </a:rPr>
              <a:t>(</a:t>
            </a:r>
            <a:r>
              <a:rPr lang="ko-KR" altLang="en-US" sz="1100" dirty="0">
                <a:latin typeface="+mj-lt"/>
                <a:ea typeface="Google Sans"/>
              </a:rPr>
              <a:t>대문자 </a:t>
            </a:r>
            <a:r>
              <a:rPr lang="en-US" altLang="ko-KR" sz="1100" dirty="0">
                <a:latin typeface="+mj-lt"/>
                <a:ea typeface="Google Sans"/>
              </a:rPr>
              <a:t>Cap Height </a:t>
            </a:r>
            <a:r>
              <a:rPr lang="ko-KR" altLang="en-US" sz="1100" dirty="0">
                <a:latin typeface="+mj-lt"/>
                <a:ea typeface="Google Sans"/>
              </a:rPr>
              <a:t>기준</a:t>
            </a:r>
            <a:r>
              <a:rPr lang="en-US" altLang="ko-KR" sz="1100" dirty="0">
                <a:latin typeface="+mj-lt"/>
                <a:ea typeface="Google Sans"/>
              </a:rPr>
              <a:t>) 2a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+mj-lt"/>
                <a:ea typeface="Google Sans"/>
              </a:rPr>
              <a:t>  'On' </a:t>
            </a:r>
            <a:r>
              <a:rPr lang="ko-KR" altLang="en-US" sz="1100" dirty="0" err="1">
                <a:latin typeface="+mj-lt"/>
                <a:ea typeface="Google Sans"/>
              </a:rPr>
              <a:t>심볼릭</a:t>
            </a:r>
            <a:r>
              <a:rPr lang="ko-KR" altLang="en-US" sz="1100" dirty="0">
                <a:latin typeface="+mj-lt"/>
                <a:ea typeface="Google Sans"/>
              </a:rPr>
              <a:t> </a:t>
            </a:r>
            <a:r>
              <a:rPr lang="en-US" altLang="ko-KR" sz="1100" dirty="0">
                <a:latin typeface="+mj-lt"/>
                <a:ea typeface="Google Sans"/>
              </a:rPr>
              <a:t>O(</a:t>
            </a:r>
            <a:r>
              <a:rPr lang="ko-KR" altLang="en-US" sz="1100" dirty="0">
                <a:latin typeface="+mj-lt"/>
                <a:ea typeface="Google Sans"/>
              </a:rPr>
              <a:t>전원 아이콘</a:t>
            </a:r>
            <a:r>
              <a:rPr lang="en-US" altLang="ko-KR" sz="1100" dirty="0">
                <a:latin typeface="+mj-lt"/>
                <a:ea typeface="Google Sans"/>
              </a:rPr>
              <a:t>) </a:t>
            </a:r>
            <a:r>
              <a:rPr lang="ko-KR" altLang="en-US" sz="1100" dirty="0">
                <a:latin typeface="+mj-lt"/>
                <a:ea typeface="Google Sans"/>
              </a:rPr>
              <a:t>직경</a:t>
            </a:r>
            <a:r>
              <a:rPr lang="en-US" altLang="ko-KR" sz="1100" dirty="0">
                <a:latin typeface="+mj-lt"/>
                <a:ea typeface="Google Sans"/>
              </a:rPr>
              <a:t> 2.4a(</a:t>
            </a:r>
            <a:r>
              <a:rPr lang="ko-KR" altLang="en-US" sz="1100" dirty="0">
                <a:latin typeface="+mj-lt"/>
                <a:ea typeface="Google Sans"/>
              </a:rPr>
              <a:t>소문자 </a:t>
            </a:r>
            <a:r>
              <a:rPr lang="en-US" altLang="ko-KR" sz="1100" dirty="0">
                <a:latin typeface="+mj-lt"/>
                <a:ea typeface="Google Sans"/>
              </a:rPr>
              <a:t>n </a:t>
            </a:r>
            <a:r>
              <a:rPr lang="ko-KR" altLang="en-US" sz="1100" dirty="0">
                <a:latin typeface="+mj-lt"/>
                <a:ea typeface="Google Sans"/>
              </a:rPr>
              <a:t>기준 상단 </a:t>
            </a:r>
            <a:r>
              <a:rPr lang="en-US" altLang="ko-KR" sz="1100" dirty="0">
                <a:latin typeface="+mj-lt"/>
                <a:ea typeface="Google Sans"/>
              </a:rPr>
              <a:t>0.4a </a:t>
            </a:r>
            <a:r>
              <a:rPr lang="ko-KR" altLang="en-US" sz="1100" dirty="0">
                <a:latin typeface="+mj-lt"/>
                <a:ea typeface="Google Sans"/>
              </a:rPr>
              <a:t>돌출</a:t>
            </a:r>
            <a:r>
              <a:rPr lang="en-US" altLang="ko-KR" sz="1100" dirty="0">
                <a:latin typeface="+mj-lt"/>
                <a:ea typeface="Google Sans"/>
              </a:rPr>
              <a:t>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+mj-lt"/>
                <a:ea typeface="Google Sans"/>
              </a:rPr>
              <a:t>  </a:t>
            </a:r>
            <a:r>
              <a:rPr lang="ko-KR" altLang="en-US" sz="1100" dirty="0">
                <a:latin typeface="+mj-lt"/>
                <a:ea typeface="Google Sans"/>
              </a:rPr>
              <a:t>전체 조합 세로 총 전고</a:t>
            </a:r>
            <a:r>
              <a:rPr lang="en-US" altLang="ko-KR" sz="1100" dirty="0">
                <a:latin typeface="+mj-lt"/>
                <a:ea typeface="Google Sans"/>
              </a:rPr>
              <a:t>: 21a(16a + 3a + 2a)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100" dirty="0">
              <a:latin typeface="+mj-lt"/>
              <a:ea typeface="Google Sans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100" dirty="0">
              <a:latin typeface="+mj-lt"/>
              <a:ea typeface="Google Sans"/>
            </a:endParaRPr>
          </a:p>
          <a:p>
            <a:pPr fontAlgn="base"/>
            <a:r>
              <a:rPr lang="en-US" altLang="ko-KR" sz="1100" b="1" dirty="0"/>
              <a:t>2. </a:t>
            </a:r>
            <a:r>
              <a:rPr lang="ko-KR" altLang="en-US" sz="1100" b="1" dirty="0"/>
              <a:t>공간 규정 및 최소 사용 크기 </a:t>
            </a:r>
            <a:r>
              <a:rPr lang="en-US" altLang="ko-KR" sz="1100" b="1" dirty="0"/>
              <a:t>(Clearance &amp; Minimum Size)</a:t>
            </a:r>
            <a:endParaRPr lang="ko-KR" altLang="en-US" sz="1100" b="1" dirty="0"/>
          </a:p>
          <a:p>
            <a:pPr fontAlgn="base"/>
            <a:r>
              <a:rPr lang="ko-KR" altLang="en-US" sz="1100" dirty="0"/>
              <a:t>  브랜드의 시각적 독립성과 가독성 확보 위해 로고 주변 타 그래픽이나 텍스트가 침범할 수 없는</a:t>
            </a:r>
            <a:endParaRPr lang="en-US" altLang="ko-KR" sz="1100" dirty="0"/>
          </a:p>
          <a:p>
            <a:pPr fontAlgn="base"/>
            <a:r>
              <a:rPr lang="en-US" altLang="ko-KR" sz="1100" dirty="0"/>
              <a:t>  </a:t>
            </a:r>
            <a:r>
              <a:rPr lang="ko-KR" altLang="en-US" sz="1100" dirty="0"/>
              <a:t>최소 보호 구역 </a:t>
            </a:r>
            <a:r>
              <a:rPr lang="en-US" altLang="ko-KR" sz="1100" dirty="0"/>
              <a:t>(Isolation Area) </a:t>
            </a:r>
            <a:r>
              <a:rPr lang="ko-KR" altLang="en-US" sz="1100" dirty="0"/>
              <a:t>설정</a:t>
            </a:r>
            <a:endParaRPr lang="en-US" altLang="ko-KR" sz="1100" dirty="0"/>
          </a:p>
          <a:p>
            <a:pPr fontAlgn="base"/>
            <a:endParaRPr lang="en-US" altLang="ko-KR" sz="1100" dirty="0"/>
          </a:p>
          <a:p>
            <a:pPr fontAlgn="base"/>
            <a:endParaRPr kumimoji="0" lang="ko-KR" altLang="ko-KR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944BA36-5136-4DD3-9189-3B7376421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226487"/>
              </p:ext>
            </p:extLst>
          </p:nvPr>
        </p:nvGraphicFramePr>
        <p:xfrm>
          <a:off x="1362076" y="3550560"/>
          <a:ext cx="7486649" cy="1716532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819434">
                  <a:extLst>
                    <a:ext uri="{9D8B030D-6E8A-4147-A177-3AD203B41FA5}">
                      <a16:colId xmlns:a16="http://schemas.microsoft.com/office/drawing/2014/main" val="1710059504"/>
                    </a:ext>
                  </a:extLst>
                </a:gridCol>
                <a:gridCol w="2111440">
                  <a:extLst>
                    <a:ext uri="{9D8B030D-6E8A-4147-A177-3AD203B41FA5}">
                      <a16:colId xmlns:a16="http://schemas.microsoft.com/office/drawing/2014/main" val="1033067401"/>
                    </a:ext>
                  </a:extLst>
                </a:gridCol>
                <a:gridCol w="4555775">
                  <a:extLst>
                    <a:ext uri="{9D8B030D-6E8A-4147-A177-3AD203B41FA5}">
                      <a16:colId xmlns:a16="http://schemas.microsoft.com/office/drawing/2014/main" val="29858805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</a:rPr>
                        <a:t>구분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</a:rPr>
                        <a:t>규격 기준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</a:rPr>
                        <a:t>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907007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</a:rPr>
                        <a:t>최소 여백 </a:t>
                      </a:r>
                      <a:r>
                        <a:rPr lang="en-US" altLang="ko-KR" sz="1000" kern="0" spc="0">
                          <a:effectLst/>
                        </a:rPr>
                        <a:t>(</a:t>
                      </a:r>
                      <a:r>
                        <a:rPr lang="en-US" sz="1000" kern="0" spc="0">
                          <a:effectLst/>
                        </a:rPr>
                        <a:t>Isolation)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effectLst/>
                        </a:rPr>
                        <a:t>$3a$(</a:t>
                      </a:r>
                      <a:r>
                        <a:rPr lang="ko-KR" altLang="en-US" sz="1000" kern="0" spc="0">
                          <a:effectLst/>
                        </a:rPr>
                        <a:t>사방 여백</a:t>
                      </a:r>
                      <a:r>
                        <a:rPr lang="en-US" altLang="ko-KR" sz="1000" kern="0" spc="0">
                          <a:effectLst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심볼마크 및 로고타입 외곽 경계선 사방으로 최소 </a:t>
                      </a:r>
                      <a:r>
                        <a:rPr lang="en-US" altLang="ko-KR" sz="1000" kern="0" spc="0" dirty="0">
                          <a:effectLst/>
                        </a:rPr>
                        <a:t>$3a$</a:t>
                      </a:r>
                      <a:r>
                        <a:rPr lang="ko-KR" altLang="en-US" sz="1000" kern="0" spc="0" dirty="0">
                          <a:effectLst/>
                        </a:rPr>
                        <a:t>이상의 독립 공간 유지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769161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</a:rPr>
                        <a:t>디지털 최소 크기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</a:rPr>
                        <a:t>심볼 단독 높이 </a:t>
                      </a:r>
                      <a:r>
                        <a:rPr lang="en-US" altLang="ko-KR" sz="1000" kern="0" spc="0">
                          <a:effectLst/>
                        </a:rPr>
                        <a:t>24px / </a:t>
                      </a:r>
                      <a:r>
                        <a:rPr lang="ko-KR" altLang="en-US" sz="1000" kern="0" spc="0">
                          <a:effectLst/>
                        </a:rPr>
                        <a:t>조합형 </a:t>
                      </a:r>
                      <a:r>
                        <a:rPr lang="en-US" altLang="ko-KR" sz="1000" kern="0" spc="0">
                          <a:effectLst/>
                        </a:rPr>
                        <a:t>40px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</a:rPr>
                        <a:t>웹</a:t>
                      </a:r>
                      <a:r>
                        <a:rPr lang="en-US" altLang="ko-KR" sz="1000" kern="0" spc="0">
                          <a:effectLst/>
                        </a:rPr>
                        <a:t>/</a:t>
                      </a:r>
                      <a:r>
                        <a:rPr lang="ko-KR" altLang="en-US" sz="1000" kern="0" spc="0">
                          <a:effectLst/>
                        </a:rPr>
                        <a:t>앱 화면 표시 시 디테일 뭉개짐 방지 기준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851968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</a:rPr>
                        <a:t>인쇄 최소 크기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</a:rPr>
                        <a:t>심볼 단독 폭 </a:t>
                      </a:r>
                      <a:r>
                        <a:rPr lang="en-US" altLang="ko-KR" sz="1000" kern="0" spc="0">
                          <a:effectLst/>
                        </a:rPr>
                        <a:t>10mm / </a:t>
                      </a:r>
                      <a:r>
                        <a:rPr lang="ko-KR" altLang="en-US" sz="1000" kern="0" spc="0">
                          <a:effectLst/>
                        </a:rPr>
                        <a:t>시그니처 폭 </a:t>
                      </a:r>
                      <a:r>
                        <a:rPr lang="en-US" altLang="ko-KR" sz="1000" kern="0" spc="0">
                          <a:effectLst/>
                        </a:rPr>
                        <a:t>20mm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명함</a:t>
                      </a:r>
                      <a:r>
                        <a:rPr lang="en-US" altLang="ko-KR" sz="1000" kern="0" spc="0" dirty="0">
                          <a:effectLst/>
                        </a:rPr>
                        <a:t>, </a:t>
                      </a:r>
                      <a:r>
                        <a:rPr lang="ko-KR" altLang="en-US" sz="1000" kern="0" spc="0" dirty="0" err="1">
                          <a:effectLst/>
                        </a:rPr>
                        <a:t>판촉물</a:t>
                      </a:r>
                      <a:r>
                        <a:rPr lang="ko-KR" altLang="en-US" sz="1000" kern="0" spc="0" dirty="0">
                          <a:effectLst/>
                        </a:rPr>
                        <a:t> 등 오프라인 인쇄 시 최소 시인성 한계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23189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464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E8DDE55C-3F6D-436D-A09D-A74F22AA35F5}"/>
              </a:ext>
            </a:extLst>
          </p:cNvPr>
          <p:cNvGrpSpPr/>
          <p:nvPr/>
        </p:nvGrpSpPr>
        <p:grpSpPr>
          <a:xfrm>
            <a:off x="1998861" y="3527515"/>
            <a:ext cx="949299" cy="639346"/>
            <a:chOff x="1028156" y="1885404"/>
            <a:chExt cx="949300" cy="639347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CAD2292-9774-42B7-ADD3-E9FE35F401EE}"/>
                </a:ext>
              </a:extLst>
            </p:cNvPr>
            <p:cNvSpPr/>
            <p:nvPr/>
          </p:nvSpPr>
          <p:spPr>
            <a:xfrm>
              <a:off x="1062446" y="1885404"/>
              <a:ext cx="888274" cy="377735"/>
            </a:xfrm>
            <a:prstGeom prst="rect">
              <a:avLst/>
            </a:prstGeom>
            <a:solidFill>
              <a:srgbClr val="0013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585AEA5-BD3A-424A-B903-8F85D1280BE0}"/>
                </a:ext>
              </a:extLst>
            </p:cNvPr>
            <p:cNvSpPr txBox="1"/>
            <p:nvPr/>
          </p:nvSpPr>
          <p:spPr>
            <a:xfrm>
              <a:off x="1028156" y="2263141"/>
              <a:ext cx="9493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R0/G19/B51</a:t>
              </a:r>
              <a:endParaRPr lang="ko-KR" altLang="en-US" sz="1100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D195028-9D9F-49D3-935B-EFE784DA18E9}"/>
              </a:ext>
            </a:extLst>
          </p:cNvPr>
          <p:cNvGrpSpPr/>
          <p:nvPr/>
        </p:nvGrpSpPr>
        <p:grpSpPr>
          <a:xfrm>
            <a:off x="2934925" y="3527515"/>
            <a:ext cx="1103187" cy="627370"/>
            <a:chOff x="975360" y="856348"/>
            <a:chExt cx="1103189" cy="627372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7350C53-54B4-4701-AAEC-F539F21A7B62}"/>
                </a:ext>
              </a:extLst>
            </p:cNvPr>
            <p:cNvSpPr/>
            <p:nvPr/>
          </p:nvSpPr>
          <p:spPr>
            <a:xfrm>
              <a:off x="1089203" y="856348"/>
              <a:ext cx="888274" cy="365760"/>
            </a:xfrm>
            <a:prstGeom prst="rect">
              <a:avLst/>
            </a:prstGeom>
            <a:solidFill>
              <a:srgbClr val="008C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68962CC-2E7F-4575-B1CC-0392BACF0E87}"/>
                </a:ext>
              </a:extLst>
            </p:cNvPr>
            <p:cNvSpPr txBox="1"/>
            <p:nvPr/>
          </p:nvSpPr>
          <p:spPr>
            <a:xfrm>
              <a:off x="975360" y="1222109"/>
              <a:ext cx="1103189" cy="2616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R0/G140/B214</a:t>
              </a:r>
              <a:endParaRPr lang="ko-KR" altLang="en-US" sz="1100" dirty="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F0F18DF-D8F1-4FF9-ABE9-D89DE51C2A8B}"/>
              </a:ext>
            </a:extLst>
          </p:cNvPr>
          <p:cNvGrpSpPr/>
          <p:nvPr/>
        </p:nvGrpSpPr>
        <p:grpSpPr>
          <a:xfrm>
            <a:off x="3947933" y="3527515"/>
            <a:ext cx="1026243" cy="627370"/>
            <a:chOff x="975360" y="856348"/>
            <a:chExt cx="1026245" cy="627372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27F4495-30CA-43A5-A922-26C7DCCAFC43}"/>
                </a:ext>
              </a:extLst>
            </p:cNvPr>
            <p:cNvSpPr/>
            <p:nvPr/>
          </p:nvSpPr>
          <p:spPr>
            <a:xfrm>
              <a:off x="1089202" y="856348"/>
              <a:ext cx="888274" cy="365760"/>
            </a:xfrm>
            <a:prstGeom prst="rect">
              <a:avLst/>
            </a:prstGeom>
            <a:solidFill>
              <a:srgbClr val="0F0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801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E3D0E90-2EA5-4CC2-9D9E-CC75DC9802E8}"/>
                </a:ext>
              </a:extLst>
            </p:cNvPr>
            <p:cNvSpPr txBox="1"/>
            <p:nvPr/>
          </p:nvSpPr>
          <p:spPr>
            <a:xfrm>
              <a:off x="975360" y="1222109"/>
              <a:ext cx="1026245" cy="2616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R15/G15/B15</a:t>
              </a:r>
              <a:endParaRPr lang="ko-KR" altLang="en-US" sz="1100" dirty="0"/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960F310-91A7-4FF8-81D5-3DC50B53AE50}"/>
              </a:ext>
            </a:extLst>
          </p:cNvPr>
          <p:cNvSpPr/>
          <p:nvPr/>
        </p:nvSpPr>
        <p:spPr>
          <a:xfrm>
            <a:off x="1998861" y="1501310"/>
            <a:ext cx="7896225" cy="255634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100" b="1" kern="0" spc="0" dirty="0">
                <a:solidFill>
                  <a:srgbClr val="1F1F1F"/>
                </a:solidFill>
                <a:effectLst/>
                <a:latin typeface="+mj-lt"/>
                <a:ea typeface="Google"/>
              </a:rPr>
              <a:t>3. </a:t>
            </a:r>
            <a:r>
              <a:rPr lang="ko-KR" altLang="en-US" sz="1100" b="1" kern="0" spc="0" dirty="0">
                <a:solidFill>
                  <a:srgbClr val="1F1F1F"/>
                </a:solidFill>
                <a:effectLst/>
                <a:latin typeface="+mj-lt"/>
                <a:ea typeface="Google"/>
              </a:rPr>
              <a:t>전용 색상 규정 </a:t>
            </a:r>
            <a:r>
              <a:rPr lang="en-US" altLang="ko-KR" sz="1100" b="1" kern="0" spc="0" dirty="0">
                <a:solidFill>
                  <a:srgbClr val="1F1F1F"/>
                </a:solidFill>
                <a:effectLst/>
                <a:latin typeface="+mj-lt"/>
                <a:ea typeface="Google"/>
              </a:rPr>
              <a:t>(Color Specification)</a:t>
            </a:r>
            <a:endParaRPr lang="ko-KR" altLang="en-US" sz="1100" b="1" kern="0" dirty="0">
              <a:solidFill>
                <a:srgbClr val="000000"/>
              </a:solidFill>
              <a:latin typeface="+mj-lt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심볼마크의 좌측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(Insight Blue)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과 우측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(Deep Navy), 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그리고 로고타입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(Black)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의 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3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가지 전용 색상</a:t>
            </a:r>
            <a:endParaRPr lang="ko-KR" altLang="en-US" sz="1100" kern="0" dirty="0">
              <a:solidFill>
                <a:srgbClr val="000000"/>
              </a:solidFill>
              <a:latin typeface="+mj-lt"/>
            </a:endParaRPr>
          </a:p>
          <a:p>
            <a:pPr fontAlgn="base">
              <a:lnSpc>
                <a:spcPct val="160000"/>
              </a:lnSpc>
            </a:pPr>
            <a:br>
              <a:rPr lang="ko-KR" altLang="en-US" sz="1100" kern="0" dirty="0">
                <a:solidFill>
                  <a:srgbClr val="1F1F1F"/>
                </a:solidFill>
                <a:latin typeface="+mj-lt"/>
              </a:rPr>
            </a:br>
            <a:endParaRPr lang="ko-KR" altLang="en-US" sz="1100" kern="0" dirty="0">
              <a:solidFill>
                <a:srgbClr val="1F1F1F"/>
              </a:solidFill>
              <a:latin typeface="+mj-lt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4275F2D2-3B73-4075-B97B-251EB27B8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565089"/>
              </p:ext>
            </p:extLst>
          </p:nvPr>
        </p:nvGraphicFramePr>
        <p:xfrm>
          <a:off x="1998861" y="2238821"/>
          <a:ext cx="7343774" cy="98501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09563">
                  <a:extLst>
                    <a:ext uri="{9D8B030D-6E8A-4147-A177-3AD203B41FA5}">
                      <a16:colId xmlns:a16="http://schemas.microsoft.com/office/drawing/2014/main" val="3228174643"/>
                    </a:ext>
                  </a:extLst>
                </a:gridCol>
                <a:gridCol w="1587551">
                  <a:extLst>
                    <a:ext uri="{9D8B030D-6E8A-4147-A177-3AD203B41FA5}">
                      <a16:colId xmlns:a16="http://schemas.microsoft.com/office/drawing/2014/main" val="2550581322"/>
                    </a:ext>
                  </a:extLst>
                </a:gridCol>
                <a:gridCol w="1339159">
                  <a:extLst>
                    <a:ext uri="{9D8B030D-6E8A-4147-A177-3AD203B41FA5}">
                      <a16:colId xmlns:a16="http://schemas.microsoft.com/office/drawing/2014/main" val="1511241702"/>
                    </a:ext>
                  </a:extLst>
                </a:gridCol>
                <a:gridCol w="1263561">
                  <a:extLst>
                    <a:ext uri="{9D8B030D-6E8A-4147-A177-3AD203B41FA5}">
                      <a16:colId xmlns:a16="http://schemas.microsoft.com/office/drawing/2014/main" val="1970106055"/>
                    </a:ext>
                  </a:extLst>
                </a:gridCol>
                <a:gridCol w="1943940">
                  <a:extLst>
                    <a:ext uri="{9D8B030D-6E8A-4147-A177-3AD203B41FA5}">
                      <a16:colId xmlns:a16="http://schemas.microsoft.com/office/drawing/2014/main" val="19249159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색상 명칭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effectLst/>
                        </a:rPr>
                        <a:t>RGB (Hex)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effectLst/>
                        </a:rPr>
                        <a:t>CMYK (</a:t>
                      </a:r>
                      <a:r>
                        <a:rPr lang="ko-KR" altLang="en-US" sz="1000" kern="0" spc="0">
                          <a:effectLst/>
                        </a:rPr>
                        <a:t>인쇄용</a:t>
                      </a:r>
                      <a:r>
                        <a:rPr lang="en-US" altLang="ko-KR" sz="1000" kern="0" spc="0">
                          <a:effectLst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effectLst/>
                        </a:rPr>
                        <a:t>Pantone (</a:t>
                      </a:r>
                      <a:r>
                        <a:rPr lang="ko-KR" altLang="en-US" sz="1000" kern="0" spc="0" dirty="0" err="1">
                          <a:effectLst/>
                        </a:rPr>
                        <a:t>별색</a:t>
                      </a:r>
                      <a:r>
                        <a:rPr lang="en-US" altLang="ko-KR" sz="1000" kern="0" spc="0" dirty="0">
                          <a:effectLst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적용 부위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58046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effectLst/>
                        </a:rPr>
                        <a:t>Insight Light Blue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effectLst/>
                        </a:rPr>
                        <a:t>#008CD6(0, 140, 214)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effectLst/>
                        </a:rPr>
                        <a:t>C85 M35 Y0 K0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effectLst/>
                        </a:rPr>
                        <a:t>PANTONE 299 C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</a:rPr>
                        <a:t>심볼 좌측 블록 </a:t>
                      </a:r>
                      <a:r>
                        <a:rPr lang="en-US" altLang="ko-KR" sz="1000" kern="0" spc="0">
                          <a:effectLst/>
                        </a:rPr>
                        <a:t>2</a:t>
                      </a:r>
                      <a:r>
                        <a:rPr lang="ko-KR" altLang="en-US" sz="1000" kern="0" spc="0">
                          <a:effectLst/>
                        </a:rPr>
                        <a:t>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712885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effectLst/>
                        </a:rPr>
                        <a:t>Insight Deep Navy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effectLst/>
                        </a:rPr>
                        <a:t>#001333(0, 19, 51)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effectLst/>
                        </a:rPr>
                        <a:t>C100 M85 Y45 K60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effectLst/>
                        </a:rPr>
                        <a:t>PANTONE 282 C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</a:rPr>
                        <a:t>심볼 우측 블록 </a:t>
                      </a:r>
                      <a:r>
                        <a:rPr lang="en-US" altLang="ko-KR" sz="1000" kern="0" spc="0">
                          <a:effectLst/>
                        </a:rPr>
                        <a:t>2</a:t>
                      </a:r>
                      <a:r>
                        <a:rPr lang="ko-KR" altLang="en-US" sz="1000" kern="0" spc="0">
                          <a:effectLst/>
                        </a:rPr>
                        <a:t>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862160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effectLst/>
                        </a:rPr>
                        <a:t>Insight Black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effectLst/>
                        </a:rPr>
                        <a:t>#0D0D0D(13, 13, 13)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effectLst/>
                        </a:rPr>
                        <a:t>C0 M0 Y0 K100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effectLst/>
                        </a:rPr>
                        <a:t>PANTONE Black C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하단 워드마크 </a:t>
                      </a:r>
                      <a:r>
                        <a:rPr lang="en-US" altLang="ko-KR" sz="1000" kern="0" spc="0" dirty="0">
                          <a:effectLst/>
                        </a:rPr>
                        <a:t>'</a:t>
                      </a:r>
                      <a:r>
                        <a:rPr lang="en-US" sz="1000" kern="0" spc="0" dirty="0">
                          <a:effectLst/>
                        </a:rPr>
                        <a:t>On Insight Lab'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996919581"/>
                  </a:ext>
                </a:extLst>
              </a:tr>
            </a:tbl>
          </a:graphicData>
        </a:graphic>
      </p:graphicFrame>
      <p:sp>
        <p:nvSpPr>
          <p:cNvPr id="30" name="Rectangle 1">
            <a:extLst>
              <a:ext uri="{FF2B5EF4-FFF2-40B4-BE49-F238E27FC236}">
                <a16:creationId xmlns:a16="http://schemas.microsoft.com/office/drawing/2014/main" id="{500BC408-2104-4168-8613-92FBA032A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32591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508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4926F8A8-A926-4265-8719-FCB472DE06AE}"/>
              </a:ext>
            </a:extLst>
          </p:cNvPr>
          <p:cNvGrpSpPr/>
          <p:nvPr/>
        </p:nvGrpSpPr>
        <p:grpSpPr>
          <a:xfrm>
            <a:off x="5346515" y="2016848"/>
            <a:ext cx="6324602" cy="1046572"/>
            <a:chOff x="1299485" y="744853"/>
            <a:chExt cx="6324602" cy="104657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3BB2DE1-96EC-46E2-9DF2-66077E65A397}"/>
                </a:ext>
              </a:extLst>
            </p:cNvPr>
            <p:cNvSpPr/>
            <p:nvPr/>
          </p:nvSpPr>
          <p:spPr>
            <a:xfrm>
              <a:off x="2895333" y="879697"/>
              <a:ext cx="4728754" cy="7390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401" b="1" dirty="0">
                  <a:solidFill>
                    <a:srgbClr val="16263D"/>
                  </a:solidFill>
                </a:rPr>
                <a:t>온 인사이트 랩 </a:t>
              </a:r>
              <a:r>
                <a:rPr lang="en-US" altLang="ko-KR" sz="1401" b="1" dirty="0">
                  <a:solidFill>
                    <a:srgbClr val="16263D"/>
                  </a:solidFill>
                </a:rPr>
                <a:t>| </a:t>
              </a:r>
              <a:r>
                <a:rPr lang="ko-KR" altLang="en-US" sz="1401" b="1" dirty="0">
                  <a:solidFill>
                    <a:srgbClr val="16263D"/>
                  </a:solidFill>
                </a:rPr>
                <a:t>지역기획</a:t>
              </a:r>
              <a:r>
                <a:rPr lang="en-US" altLang="ko-KR" sz="1401" b="1" dirty="0">
                  <a:solidFill>
                    <a:srgbClr val="16263D"/>
                  </a:solidFill>
                </a:rPr>
                <a:t>·</a:t>
              </a:r>
              <a:r>
                <a:rPr lang="ko-KR" altLang="en-US" sz="1401" b="1" dirty="0">
                  <a:solidFill>
                    <a:srgbClr val="16263D"/>
                  </a:solidFill>
                </a:rPr>
                <a:t>연결</a:t>
              </a:r>
              <a:endParaRPr lang="ko-KR" altLang="en-US" sz="1401" dirty="0"/>
            </a:p>
            <a:p>
              <a:r>
                <a:rPr lang="en-US" altLang="ko-KR" sz="1401" b="1" i="1" dirty="0">
                  <a:solidFill>
                    <a:srgbClr val="16263D"/>
                  </a:solidFill>
                </a:rPr>
                <a:t>Research · Connect · Impact</a:t>
              </a:r>
              <a:endParaRPr lang="ko-KR" altLang="en-US" sz="1401" i="1" dirty="0"/>
            </a:p>
            <a:p>
              <a:r>
                <a:rPr lang="ko-KR" altLang="en-US" sz="1401" b="1" dirty="0">
                  <a:solidFill>
                    <a:srgbClr val="16263D"/>
                  </a:solidFill>
                </a:rPr>
                <a:t>지역을 연구하고</a:t>
              </a:r>
              <a:r>
                <a:rPr lang="en-US" altLang="ko-KR" sz="1401" b="1" dirty="0">
                  <a:solidFill>
                    <a:srgbClr val="16263D"/>
                  </a:solidFill>
                </a:rPr>
                <a:t>, </a:t>
              </a:r>
              <a:r>
                <a:rPr lang="ko-KR" altLang="en-US" sz="1401" b="1" dirty="0">
                  <a:solidFill>
                    <a:srgbClr val="16263D"/>
                  </a:solidFill>
                </a:rPr>
                <a:t>사람을 연결하고</a:t>
              </a:r>
              <a:r>
                <a:rPr lang="en-US" altLang="ko-KR" sz="1401" b="1" dirty="0">
                  <a:solidFill>
                    <a:srgbClr val="16263D"/>
                  </a:solidFill>
                </a:rPr>
                <a:t>, </a:t>
              </a:r>
              <a:r>
                <a:rPr lang="ko-KR" altLang="en-US" sz="1401" b="1" dirty="0">
                  <a:solidFill>
                    <a:srgbClr val="16263D"/>
                  </a:solidFill>
                </a:rPr>
                <a:t>변화를 기획합니다</a:t>
              </a:r>
              <a:r>
                <a:rPr lang="en-US" altLang="ko-KR" sz="1401" b="1" dirty="0">
                  <a:solidFill>
                    <a:srgbClr val="16263D"/>
                  </a:solidFill>
                </a:rPr>
                <a:t>.</a:t>
              </a:r>
              <a:endParaRPr lang="ko-KR" altLang="en-US" sz="1401" dirty="0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D9F51B74-F16D-4272-BCC5-39EC0F78B306}"/>
                </a:ext>
              </a:extLst>
            </p:cNvPr>
            <p:cNvGrpSpPr/>
            <p:nvPr/>
          </p:nvGrpSpPr>
          <p:grpSpPr>
            <a:xfrm>
              <a:off x="1299485" y="744853"/>
              <a:ext cx="1441262" cy="1046572"/>
              <a:chOff x="1556660" y="2316478"/>
              <a:chExt cx="1441262" cy="1046572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E6A52885-A926-4B74-BBCD-F747E5015B5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21050" b="38850" l="35150" r="63850">
                            <a14:foregroundMark x1="53150" y1="31850" x2="53150" y2="31850"/>
                            <a14:foregroundMark x1="52300" y1="23850" x2="52300" y2="23850"/>
                            <a14:foregroundMark x1="48500" y1="23000" x2="48500" y2="23000"/>
                            <a14:foregroundMark x1="47850" y1="24650" x2="47850" y2="24650"/>
                            <a14:foregroundMark x1="63850" y1="37950" x2="63850" y2="37950"/>
                            <a14:foregroundMark x1="61150" y1="37950" x2="61150" y2="37950"/>
                            <a14:foregroundMark x1="57600" y1="38200" x2="57600" y2="38200"/>
                            <a14:foregroundMark x1="55100" y1="38200" x2="55100" y2="38200"/>
                            <a14:foregroundMark x1="52650" y1="37200" x2="52650" y2="37200"/>
                            <a14:foregroundMark x1="51400" y1="38850" x2="51400" y2="38850"/>
                            <a14:foregroundMark x1="48750" y1="38200" x2="48750" y2="38200"/>
                            <a14:foregroundMark x1="48750" y1="36450" x2="48750" y2="36450"/>
                            <a14:foregroundMark x1="47450" y1="38100" x2="47450" y2="38100"/>
                            <a14:foregroundMark x1="44300" y1="37950" x2="44300" y2="37950"/>
                            <a14:foregroundMark x1="43000" y1="37950" x2="43000" y2="37950"/>
                            <a14:foregroundMark x1="39200" y1="37950" x2="39200" y2="37950"/>
                            <a14:foregroundMark x1="37700" y1="36450" x2="37700" y2="36450"/>
                            <a14:foregroundMark x1="36650" y1="36200" x2="36650" y2="36200"/>
                            <a14:foregroundMark x1="35150" y1="36450" x2="35150" y2="3645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794" t="18921" r="40677" b="65821"/>
              <a:stretch/>
            </p:blipFill>
            <p:spPr>
              <a:xfrm>
                <a:off x="1828805" y="2316478"/>
                <a:ext cx="896983" cy="738665"/>
              </a:xfrm>
              <a:prstGeom prst="rect">
                <a:avLst/>
              </a:prstGeom>
            </p:spPr>
          </p:pic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83ED204D-F219-437E-9F46-E5B1069F9CC8}"/>
                  </a:ext>
                </a:extLst>
              </p:cNvPr>
              <p:cNvGrpSpPr/>
              <p:nvPr/>
            </p:nvGrpSpPr>
            <p:grpSpPr>
              <a:xfrm>
                <a:off x="1556660" y="3055145"/>
                <a:ext cx="1441262" cy="307905"/>
                <a:chOff x="2434051" y="4232366"/>
                <a:chExt cx="1441263" cy="307905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21EB20D-F383-4E50-A686-77BB2C44B152}"/>
                    </a:ext>
                  </a:extLst>
                </p:cNvPr>
                <p:cNvSpPr txBox="1"/>
                <p:nvPr/>
              </p:nvSpPr>
              <p:spPr>
                <a:xfrm>
                  <a:off x="2551610" y="4232366"/>
                  <a:ext cx="1323704" cy="3079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1" b="1" dirty="0"/>
                    <a:t>n Insight Lab</a:t>
                  </a:r>
                  <a:endParaRPr lang="ko-KR" altLang="en-US" sz="1401" b="1" dirty="0"/>
                </a:p>
              </p:txBody>
            </p:sp>
            <p:pic>
              <p:nvPicPr>
                <p:cNvPr id="11" name="그래픽 10" descr="제곱">
                  <a:extLst>
                    <a:ext uri="{FF2B5EF4-FFF2-40B4-BE49-F238E27FC236}">
                      <a16:creationId xmlns:a16="http://schemas.microsoft.com/office/drawing/2014/main" id="{C10C5486-F460-49E2-9B8C-1362903702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34051" y="4259591"/>
                  <a:ext cx="216000" cy="216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497DA57-9A93-42D7-B9E1-BE65BD6ECABA}"/>
              </a:ext>
            </a:extLst>
          </p:cNvPr>
          <p:cNvGrpSpPr/>
          <p:nvPr/>
        </p:nvGrpSpPr>
        <p:grpSpPr>
          <a:xfrm>
            <a:off x="498758" y="2106931"/>
            <a:ext cx="4728754" cy="1804348"/>
            <a:chOff x="1417044" y="2871922"/>
            <a:chExt cx="4728754" cy="1804348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987D69D-787C-4387-AC2A-C4E819FA370A}"/>
                </a:ext>
              </a:extLst>
            </p:cNvPr>
            <p:cNvSpPr/>
            <p:nvPr/>
          </p:nvSpPr>
          <p:spPr>
            <a:xfrm>
              <a:off x="1417044" y="3937222"/>
              <a:ext cx="4728754" cy="7390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401" b="1" dirty="0">
                  <a:solidFill>
                    <a:srgbClr val="16263D"/>
                  </a:solidFill>
                </a:rPr>
                <a:t>온 인사이트 랩 </a:t>
              </a:r>
              <a:r>
                <a:rPr lang="en-US" altLang="ko-KR" sz="1401" b="1" dirty="0">
                  <a:solidFill>
                    <a:srgbClr val="16263D"/>
                  </a:solidFill>
                </a:rPr>
                <a:t>| </a:t>
              </a:r>
              <a:r>
                <a:rPr lang="ko-KR" altLang="en-US" sz="1401" b="1" dirty="0">
                  <a:solidFill>
                    <a:srgbClr val="16263D"/>
                  </a:solidFill>
                </a:rPr>
                <a:t>지역기획</a:t>
              </a:r>
              <a:r>
                <a:rPr lang="en-US" altLang="ko-KR" sz="1401" b="1" dirty="0">
                  <a:solidFill>
                    <a:srgbClr val="16263D"/>
                  </a:solidFill>
                </a:rPr>
                <a:t>·</a:t>
              </a:r>
              <a:r>
                <a:rPr lang="ko-KR" altLang="en-US" sz="1401" b="1" dirty="0">
                  <a:solidFill>
                    <a:srgbClr val="16263D"/>
                  </a:solidFill>
                </a:rPr>
                <a:t>연결</a:t>
              </a:r>
              <a:endParaRPr lang="ko-KR" altLang="en-US" sz="1401" dirty="0"/>
            </a:p>
            <a:p>
              <a:pPr algn="ctr"/>
              <a:r>
                <a:rPr lang="en-US" altLang="ko-KR" sz="1401" b="1" i="1" dirty="0">
                  <a:solidFill>
                    <a:srgbClr val="199BBD"/>
                  </a:solidFill>
                </a:rPr>
                <a:t>Research · Connect · Impact</a:t>
              </a:r>
              <a:endParaRPr lang="ko-KR" altLang="en-US" sz="1401" i="1" dirty="0">
                <a:solidFill>
                  <a:srgbClr val="199BBD"/>
                </a:solidFill>
              </a:endParaRPr>
            </a:p>
            <a:p>
              <a:pPr algn="ctr"/>
              <a:r>
                <a:rPr lang="ko-KR" altLang="en-US" sz="1401" b="1" dirty="0">
                  <a:solidFill>
                    <a:srgbClr val="16263D"/>
                  </a:solidFill>
                </a:rPr>
                <a:t>지역을 연구하고</a:t>
              </a:r>
              <a:r>
                <a:rPr lang="en-US" altLang="ko-KR" sz="1401" b="1" dirty="0">
                  <a:solidFill>
                    <a:srgbClr val="16263D"/>
                  </a:solidFill>
                </a:rPr>
                <a:t>, </a:t>
              </a:r>
              <a:r>
                <a:rPr lang="ko-KR" altLang="en-US" sz="1401" b="1" dirty="0">
                  <a:solidFill>
                    <a:srgbClr val="16263D"/>
                  </a:solidFill>
                </a:rPr>
                <a:t>사람을 연결하고</a:t>
              </a:r>
              <a:r>
                <a:rPr lang="en-US" altLang="ko-KR" sz="1401" b="1" dirty="0">
                  <a:solidFill>
                    <a:srgbClr val="16263D"/>
                  </a:solidFill>
                </a:rPr>
                <a:t>, </a:t>
              </a:r>
              <a:r>
                <a:rPr lang="ko-KR" altLang="en-US" sz="1401" b="1" dirty="0">
                  <a:solidFill>
                    <a:srgbClr val="16263D"/>
                  </a:solidFill>
                </a:rPr>
                <a:t>변화를 기획합니다</a:t>
              </a:r>
              <a:r>
                <a:rPr lang="en-US" altLang="ko-KR" sz="1401" b="1" dirty="0">
                  <a:solidFill>
                    <a:srgbClr val="16263D"/>
                  </a:solidFill>
                </a:rPr>
                <a:t>.</a:t>
              </a:r>
              <a:endParaRPr lang="ko-KR" altLang="en-US" sz="1401" dirty="0"/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ECE4113C-1CA6-418C-B59B-FC665091BD55}"/>
                </a:ext>
              </a:extLst>
            </p:cNvPr>
            <p:cNvGrpSpPr/>
            <p:nvPr/>
          </p:nvGrpSpPr>
          <p:grpSpPr>
            <a:xfrm>
              <a:off x="3160210" y="2871922"/>
              <a:ext cx="1441262" cy="1046572"/>
              <a:chOff x="1540960" y="2470430"/>
              <a:chExt cx="1441262" cy="1046572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6909A03E-CB58-4F87-B6EA-59A03BAAEE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21050" b="38850" l="35150" r="63850">
                            <a14:foregroundMark x1="53150" y1="31850" x2="53150" y2="31850"/>
                            <a14:foregroundMark x1="52300" y1="23850" x2="52300" y2="23850"/>
                            <a14:foregroundMark x1="48500" y1="23000" x2="48500" y2="23000"/>
                            <a14:foregroundMark x1="47850" y1="24650" x2="47850" y2="24650"/>
                            <a14:foregroundMark x1="63850" y1="37950" x2="63850" y2="37950"/>
                            <a14:foregroundMark x1="61150" y1="37950" x2="61150" y2="37950"/>
                            <a14:foregroundMark x1="57600" y1="38200" x2="57600" y2="38200"/>
                            <a14:foregroundMark x1="55100" y1="38200" x2="55100" y2="38200"/>
                            <a14:foregroundMark x1="52650" y1="37200" x2="52650" y2="37200"/>
                            <a14:foregroundMark x1="51400" y1="38850" x2="51400" y2="38850"/>
                            <a14:foregroundMark x1="48750" y1="38200" x2="48750" y2="38200"/>
                            <a14:foregroundMark x1="48750" y1="36450" x2="48750" y2="36450"/>
                            <a14:foregroundMark x1="47450" y1="38100" x2="47450" y2="38100"/>
                            <a14:foregroundMark x1="44300" y1="37950" x2="44300" y2="37950"/>
                            <a14:foregroundMark x1="43000" y1="37950" x2="43000" y2="37950"/>
                            <a14:foregroundMark x1="39200" y1="37950" x2="39200" y2="37950"/>
                            <a14:foregroundMark x1="37700" y1="36450" x2="37700" y2="36450"/>
                            <a14:foregroundMark x1="36650" y1="36200" x2="36650" y2="36200"/>
                            <a14:foregroundMark x1="35150" y1="36450" x2="35150" y2="3645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794" t="18921" r="40677" b="65821"/>
              <a:stretch/>
            </p:blipFill>
            <p:spPr>
              <a:xfrm>
                <a:off x="1813105" y="2470430"/>
                <a:ext cx="896983" cy="738665"/>
              </a:xfrm>
              <a:prstGeom prst="rect">
                <a:avLst/>
              </a:prstGeom>
            </p:spPr>
          </p:pic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DB78A586-45A9-4327-8BDF-04D3830F27A4}"/>
                  </a:ext>
                </a:extLst>
              </p:cNvPr>
              <p:cNvGrpSpPr/>
              <p:nvPr/>
            </p:nvGrpSpPr>
            <p:grpSpPr>
              <a:xfrm>
                <a:off x="1540960" y="3209097"/>
                <a:ext cx="1441262" cy="307905"/>
                <a:chOff x="2418351" y="4386318"/>
                <a:chExt cx="1441263" cy="307905"/>
              </a:xfrm>
            </p:grpSpPr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0C3EB07-54D5-435F-A7EC-5211749F5E19}"/>
                    </a:ext>
                  </a:extLst>
                </p:cNvPr>
                <p:cNvSpPr txBox="1"/>
                <p:nvPr/>
              </p:nvSpPr>
              <p:spPr>
                <a:xfrm>
                  <a:off x="2535910" y="4386318"/>
                  <a:ext cx="1323704" cy="3079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1" b="1" dirty="0"/>
                    <a:t>n Insight Lab</a:t>
                  </a:r>
                  <a:endParaRPr lang="ko-KR" altLang="en-US" sz="1401" b="1" dirty="0"/>
                </a:p>
              </p:txBody>
            </p:sp>
            <p:pic>
              <p:nvPicPr>
                <p:cNvPr id="22" name="그래픽 21" descr="제곱">
                  <a:extLst>
                    <a:ext uri="{FF2B5EF4-FFF2-40B4-BE49-F238E27FC236}">
                      <a16:creationId xmlns:a16="http://schemas.microsoft.com/office/drawing/2014/main" id="{B7CFFC37-3093-4211-99AC-8D25D75342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18351" y="4413543"/>
                  <a:ext cx="216000" cy="21600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A8ACC59-E25E-4FED-BE2D-3E143B8C3FE3}"/>
              </a:ext>
            </a:extLst>
          </p:cNvPr>
          <p:cNvGrpSpPr/>
          <p:nvPr/>
        </p:nvGrpSpPr>
        <p:grpSpPr>
          <a:xfrm>
            <a:off x="6515643" y="3967261"/>
            <a:ext cx="3899539" cy="1539011"/>
            <a:chOff x="4996812" y="2827595"/>
            <a:chExt cx="3899539" cy="1539011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FD9B409-A963-4EA2-86A7-95AEC9EF07EA}"/>
                </a:ext>
              </a:extLst>
            </p:cNvPr>
            <p:cNvSpPr/>
            <p:nvPr/>
          </p:nvSpPr>
          <p:spPr>
            <a:xfrm>
              <a:off x="6474559" y="2827595"/>
              <a:ext cx="2421792" cy="15390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2000" b="1" dirty="0">
                  <a:solidFill>
                    <a:srgbClr val="16263D"/>
                  </a:solidFill>
                </a:rPr>
                <a:t>지역기획</a:t>
              </a:r>
              <a:r>
                <a:rPr lang="en-US" altLang="ko-KR" sz="2000" b="1" dirty="0">
                  <a:solidFill>
                    <a:srgbClr val="16263D"/>
                  </a:solidFill>
                </a:rPr>
                <a:t>·</a:t>
              </a:r>
              <a:r>
                <a:rPr lang="ko-KR" altLang="en-US" sz="2000" b="1" dirty="0">
                  <a:solidFill>
                    <a:srgbClr val="16263D"/>
                  </a:solidFill>
                </a:rPr>
                <a:t>연결</a:t>
              </a:r>
              <a:endParaRPr lang="ko-KR" altLang="en-US" sz="2000" dirty="0"/>
            </a:p>
            <a:p>
              <a:r>
                <a:rPr lang="en-US" altLang="ko-KR" sz="1200" b="1" i="1" dirty="0">
                  <a:solidFill>
                    <a:srgbClr val="199BBD"/>
                  </a:solidFill>
                </a:rPr>
                <a:t>Research · Connect · Impact</a:t>
              </a:r>
              <a:endParaRPr lang="ko-KR" altLang="en-US" sz="1200" i="1" dirty="0">
                <a:solidFill>
                  <a:srgbClr val="199BBD"/>
                </a:solidFill>
              </a:endParaRPr>
            </a:p>
            <a:p>
              <a:r>
                <a:rPr lang="ko-KR" altLang="en-US" sz="2000" b="1" dirty="0">
                  <a:solidFill>
                    <a:srgbClr val="16263D"/>
                  </a:solidFill>
                </a:rPr>
                <a:t>지역을 연구하고</a:t>
              </a:r>
              <a:endParaRPr lang="en-US" altLang="ko-KR" sz="2000" b="1" dirty="0">
                <a:solidFill>
                  <a:srgbClr val="16263D"/>
                </a:solidFill>
              </a:endParaRPr>
            </a:p>
            <a:p>
              <a:r>
                <a:rPr lang="ko-KR" altLang="en-US" sz="2000" b="1" dirty="0">
                  <a:solidFill>
                    <a:srgbClr val="16263D"/>
                  </a:solidFill>
                </a:rPr>
                <a:t>사람을 연결하고</a:t>
              </a:r>
              <a:endParaRPr lang="en-US" altLang="ko-KR" sz="2000" b="1" dirty="0">
                <a:solidFill>
                  <a:srgbClr val="16263D"/>
                </a:solidFill>
              </a:endParaRPr>
            </a:p>
            <a:p>
              <a:r>
                <a:rPr lang="ko-KR" altLang="en-US" sz="2000" b="1" dirty="0">
                  <a:solidFill>
                    <a:srgbClr val="16263D"/>
                  </a:solidFill>
                </a:rPr>
                <a:t>변화를 기획합니다</a:t>
              </a:r>
              <a:r>
                <a:rPr lang="en-US" altLang="ko-KR" sz="2000" b="1" dirty="0">
                  <a:solidFill>
                    <a:srgbClr val="16263D"/>
                  </a:solidFill>
                </a:rPr>
                <a:t>.</a:t>
              </a:r>
              <a:endParaRPr lang="ko-KR" altLang="en-US" sz="2000" dirty="0"/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053B9AAD-2352-4931-80E0-B053703217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1050" b="38850" l="35150" r="63850">
                          <a14:foregroundMark x1="53150" y1="31850" x2="53150" y2="31850"/>
                          <a14:foregroundMark x1="52300" y1="23850" x2="52300" y2="23850"/>
                          <a14:foregroundMark x1="48500" y1="23000" x2="48500" y2="23000"/>
                          <a14:foregroundMark x1="47850" y1="24650" x2="47850" y2="24650"/>
                          <a14:foregroundMark x1="63850" y1="37950" x2="63850" y2="37950"/>
                          <a14:foregroundMark x1="61150" y1="37950" x2="61150" y2="37950"/>
                          <a14:foregroundMark x1="57600" y1="38200" x2="57600" y2="38200"/>
                          <a14:foregroundMark x1="55100" y1="38200" x2="55100" y2="38200"/>
                          <a14:foregroundMark x1="52650" y1="37200" x2="52650" y2="37200"/>
                          <a14:foregroundMark x1="51400" y1="38850" x2="51400" y2="38850"/>
                          <a14:foregroundMark x1="48750" y1="38200" x2="48750" y2="38200"/>
                          <a14:foregroundMark x1="48750" y1="36450" x2="48750" y2="36450"/>
                          <a14:foregroundMark x1="47450" y1="38100" x2="47450" y2="38100"/>
                          <a14:foregroundMark x1="44300" y1="37950" x2="44300" y2="37950"/>
                          <a14:foregroundMark x1="43000" y1="37950" x2="43000" y2="37950"/>
                          <a14:foregroundMark x1="39200" y1="37950" x2="39200" y2="37950"/>
                          <a14:foregroundMark x1="37700" y1="36450" x2="37700" y2="36450"/>
                          <a14:foregroundMark x1="36650" y1="36200" x2="36650" y2="36200"/>
                          <a14:foregroundMark x1="35150" y1="36450" x2="35150" y2="364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94" t="18921" r="40677" b="65821"/>
            <a:stretch/>
          </p:blipFill>
          <p:spPr>
            <a:xfrm>
              <a:off x="5154032" y="3029745"/>
              <a:ext cx="896983" cy="738665"/>
            </a:xfrm>
            <a:prstGeom prst="rect">
              <a:avLst/>
            </a:prstGeom>
          </p:spPr>
        </p:pic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3AEBE5A3-D80B-4C0B-ACA5-79343DB3C9FF}"/>
                </a:ext>
              </a:extLst>
            </p:cNvPr>
            <p:cNvGrpSpPr/>
            <p:nvPr/>
          </p:nvGrpSpPr>
          <p:grpSpPr>
            <a:xfrm>
              <a:off x="4996812" y="3800750"/>
              <a:ext cx="1441262" cy="307905"/>
              <a:chOff x="4893675" y="6669238"/>
              <a:chExt cx="1441263" cy="307905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4F1BFF8-0F85-4717-B32B-8F5E63F96535}"/>
                  </a:ext>
                </a:extLst>
              </p:cNvPr>
              <p:cNvSpPr txBox="1"/>
              <p:nvPr/>
            </p:nvSpPr>
            <p:spPr>
              <a:xfrm>
                <a:off x="5011234" y="6669238"/>
                <a:ext cx="1323704" cy="307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1" b="1" dirty="0"/>
                  <a:t>n Insight Lab</a:t>
                </a:r>
                <a:endParaRPr lang="ko-KR" altLang="en-US" sz="1401" b="1" dirty="0"/>
              </a:p>
            </p:txBody>
          </p:sp>
          <p:pic>
            <p:nvPicPr>
              <p:cNvPr id="31" name="그래픽 30" descr="제곱">
                <a:extLst>
                  <a:ext uri="{FF2B5EF4-FFF2-40B4-BE49-F238E27FC236}">
                    <a16:creationId xmlns:a16="http://schemas.microsoft.com/office/drawing/2014/main" id="{A6E5A91D-7E26-4E98-AF6B-422D86594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893675" y="6696463"/>
                <a:ext cx="216000" cy="216000"/>
              </a:xfrm>
              <a:prstGeom prst="rect">
                <a:avLst/>
              </a:prstGeom>
            </p:spPr>
          </p:pic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FDAD7BF7-F456-4CB8-B9B7-D929F4802450}"/>
                </a:ext>
              </a:extLst>
            </p:cNvPr>
            <p:cNvCxnSpPr/>
            <p:nvPr/>
          </p:nvCxnSpPr>
          <p:spPr>
            <a:xfrm>
              <a:off x="6410325" y="2827595"/>
              <a:ext cx="0" cy="1539011"/>
            </a:xfrm>
            <a:prstGeom prst="line">
              <a:avLst/>
            </a:prstGeom>
            <a:ln w="38100">
              <a:solidFill>
                <a:srgbClr val="59CAE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219DDE5-FA2D-4EAD-A13D-BFE73EBFEBEA}"/>
              </a:ext>
            </a:extLst>
          </p:cNvPr>
          <p:cNvSpPr/>
          <p:nvPr/>
        </p:nvSpPr>
        <p:spPr>
          <a:xfrm>
            <a:off x="403236" y="493964"/>
            <a:ext cx="7807311" cy="151317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100" b="1" kern="0" spc="0" dirty="0">
                <a:solidFill>
                  <a:srgbClr val="1F1F1F"/>
                </a:solidFill>
                <a:effectLst/>
                <a:latin typeface="+mj-lt"/>
                <a:ea typeface="Google"/>
              </a:rPr>
              <a:t>4. </a:t>
            </a:r>
            <a:r>
              <a:rPr lang="ko-KR" altLang="en-US" sz="1100" b="1" kern="0" spc="0" dirty="0" err="1">
                <a:solidFill>
                  <a:srgbClr val="1F1F1F"/>
                </a:solidFill>
                <a:effectLst/>
                <a:latin typeface="+mj-lt"/>
                <a:ea typeface="Google"/>
              </a:rPr>
              <a:t>시그니처</a:t>
            </a:r>
            <a:r>
              <a:rPr lang="ko-KR" altLang="en-US" sz="1100" b="1" kern="0" spc="0" dirty="0">
                <a:solidFill>
                  <a:srgbClr val="1F1F1F"/>
                </a:solidFill>
                <a:effectLst/>
                <a:latin typeface="+mj-lt"/>
                <a:ea typeface="Google"/>
              </a:rPr>
              <a:t> 조합 시스템 </a:t>
            </a:r>
            <a:r>
              <a:rPr lang="en-US" altLang="ko-KR" sz="1100" b="1" kern="0" spc="0" dirty="0">
                <a:solidFill>
                  <a:srgbClr val="1F1F1F"/>
                </a:solidFill>
                <a:effectLst/>
                <a:latin typeface="+mj-lt"/>
                <a:ea typeface="Google"/>
              </a:rPr>
              <a:t>(Signature Layouts) 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매체와 적용 공간의 종횡비에 따라 세 가지 표준 조합 방식 사용</a:t>
            </a:r>
            <a:endParaRPr lang="ko-KR" altLang="en-US" sz="1100" kern="0" dirty="0">
              <a:solidFill>
                <a:srgbClr val="000000"/>
              </a:solidFill>
              <a:latin typeface="+mj-lt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100" b="1" kern="0" dirty="0">
                <a:solidFill>
                  <a:srgbClr val="1F1F1F"/>
                </a:solidFill>
                <a:latin typeface="+mj-lt"/>
                <a:ea typeface="Google"/>
              </a:rPr>
              <a:t>세로 조합 </a:t>
            </a:r>
            <a:r>
              <a:rPr lang="en-US" altLang="ko-KR" sz="1100" b="1" kern="0" dirty="0">
                <a:solidFill>
                  <a:srgbClr val="1F1F1F"/>
                </a:solidFill>
                <a:latin typeface="+mj-lt"/>
                <a:ea typeface="Google"/>
              </a:rPr>
              <a:t>(</a:t>
            </a:r>
            <a:r>
              <a:rPr lang="ko-KR" altLang="en-US" sz="1100" b="1" kern="0" dirty="0">
                <a:solidFill>
                  <a:srgbClr val="1F1F1F"/>
                </a:solidFill>
                <a:latin typeface="+mj-lt"/>
                <a:ea typeface="Google"/>
              </a:rPr>
              <a:t>상하형 </a:t>
            </a:r>
            <a:r>
              <a:rPr lang="en-US" altLang="ko-KR" sz="1100" b="1" kern="0" dirty="0">
                <a:solidFill>
                  <a:srgbClr val="1F1F1F"/>
                </a:solidFill>
                <a:latin typeface="+mj-lt"/>
                <a:ea typeface="Google"/>
              </a:rPr>
              <a:t>- </a:t>
            </a:r>
            <a:r>
              <a:rPr lang="ko-KR" altLang="en-US" sz="1100" b="1" kern="0" dirty="0">
                <a:solidFill>
                  <a:srgbClr val="1F1F1F"/>
                </a:solidFill>
                <a:latin typeface="+mj-lt"/>
                <a:ea typeface="Google"/>
              </a:rPr>
              <a:t>기본형</a:t>
            </a:r>
            <a:r>
              <a:rPr lang="en-US" altLang="ko-KR" sz="1100" b="1" kern="0" dirty="0">
                <a:solidFill>
                  <a:srgbClr val="1F1F1F"/>
                </a:solidFill>
                <a:latin typeface="+mj-lt"/>
                <a:ea typeface="Google"/>
              </a:rPr>
              <a:t>) 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심볼마크 하단에 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'On Insight Lab' 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로고타입 중앙 정렬 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(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간격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: 3a)</a:t>
            </a:r>
            <a:endParaRPr lang="ko-KR" altLang="en-US" sz="1100" kern="0" dirty="0">
              <a:solidFill>
                <a:srgbClr val="000000"/>
              </a:solidFill>
              <a:latin typeface="+mj-lt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100" b="1" kern="0" dirty="0">
                <a:solidFill>
                  <a:srgbClr val="1F1F1F"/>
                </a:solidFill>
                <a:latin typeface="+mj-lt"/>
                <a:ea typeface="Google"/>
              </a:rPr>
              <a:t>가로 조합 </a:t>
            </a:r>
            <a:r>
              <a:rPr lang="en-US" altLang="ko-KR" sz="1100" b="1" kern="0" dirty="0">
                <a:solidFill>
                  <a:srgbClr val="1F1F1F"/>
                </a:solidFill>
                <a:latin typeface="+mj-lt"/>
                <a:ea typeface="Google"/>
              </a:rPr>
              <a:t>(</a:t>
            </a:r>
            <a:r>
              <a:rPr lang="ko-KR" altLang="en-US" sz="1100" b="1" kern="0" dirty="0">
                <a:solidFill>
                  <a:srgbClr val="1F1F1F"/>
                </a:solidFill>
                <a:latin typeface="+mj-lt"/>
                <a:ea typeface="Google"/>
              </a:rPr>
              <a:t>좌우형 </a:t>
            </a:r>
            <a:r>
              <a:rPr lang="en-US" altLang="ko-KR" sz="1100" b="1" kern="0" dirty="0">
                <a:solidFill>
                  <a:srgbClr val="1F1F1F"/>
                </a:solidFill>
                <a:latin typeface="+mj-lt"/>
                <a:ea typeface="Google"/>
              </a:rPr>
              <a:t>- </a:t>
            </a:r>
            <a:r>
              <a:rPr lang="ko-KR" altLang="en-US" sz="1100" b="1" kern="0" dirty="0">
                <a:solidFill>
                  <a:srgbClr val="1F1F1F"/>
                </a:solidFill>
                <a:latin typeface="+mj-lt"/>
                <a:ea typeface="Google"/>
              </a:rPr>
              <a:t>와이드형</a:t>
            </a:r>
            <a:r>
              <a:rPr lang="en-US" altLang="ko-KR" sz="1100" b="1" kern="0" dirty="0">
                <a:solidFill>
                  <a:srgbClr val="1F1F1F"/>
                </a:solidFill>
                <a:latin typeface="+mj-lt"/>
                <a:ea typeface="Google"/>
              </a:rPr>
              <a:t>) 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심볼마크 우측에 워드마크 배치</a:t>
            </a:r>
            <a:endParaRPr lang="ko-KR" altLang="en-US" sz="1100" kern="0" dirty="0">
              <a:solidFill>
                <a:srgbClr val="000000"/>
              </a:solidFill>
              <a:latin typeface="+mj-lt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  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- 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심볼마크 높이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(16a)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와 워드마크 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2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줄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/1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줄 기준 비례 정렬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, 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심볼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-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로고 간격 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4a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적용</a:t>
            </a:r>
            <a:endParaRPr lang="ko-KR" altLang="en-US" sz="1100" kern="0" dirty="0">
              <a:solidFill>
                <a:srgbClr val="000000"/>
              </a:solidFill>
              <a:latin typeface="+mj-lt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100" b="1" kern="0" dirty="0">
                <a:solidFill>
                  <a:srgbClr val="1F1F1F"/>
                </a:solidFill>
                <a:latin typeface="+mj-lt"/>
                <a:ea typeface="Google"/>
              </a:rPr>
              <a:t>단독 심볼 </a:t>
            </a:r>
            <a:r>
              <a:rPr lang="en-US" altLang="ko-KR" sz="1100" b="1" kern="0" dirty="0">
                <a:solidFill>
                  <a:srgbClr val="1F1F1F"/>
                </a:solidFill>
                <a:latin typeface="+mj-lt"/>
                <a:ea typeface="Google"/>
              </a:rPr>
              <a:t>(Icon/Favicon) 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앱 아이콘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, </a:t>
            </a:r>
            <a:r>
              <a:rPr lang="ko-KR" altLang="en-US" sz="1100" kern="0" dirty="0" err="1">
                <a:solidFill>
                  <a:srgbClr val="1F1F1F"/>
                </a:solidFill>
                <a:latin typeface="+mj-lt"/>
                <a:ea typeface="Google"/>
              </a:rPr>
              <a:t>파비콘</a:t>
            </a:r>
            <a:r>
              <a:rPr lang="en-US" altLang="ko-KR" sz="1100" kern="0" dirty="0">
                <a:solidFill>
                  <a:srgbClr val="1F1F1F"/>
                </a:solidFill>
                <a:latin typeface="+mj-lt"/>
                <a:ea typeface="Google"/>
              </a:rPr>
              <a:t>, SNS </a:t>
            </a:r>
            <a:r>
              <a:rPr lang="ko-KR" altLang="en-US" sz="1100" kern="0" dirty="0">
                <a:solidFill>
                  <a:srgbClr val="1F1F1F"/>
                </a:solidFill>
                <a:latin typeface="+mj-lt"/>
                <a:ea typeface="Google"/>
              </a:rPr>
              <a:t>프로필 등 워드마크 표기가 불가능한 소형 매체 전용 사용</a:t>
            </a:r>
            <a:endParaRPr lang="ko-KR" altLang="en-US" sz="1100" kern="0" dirty="0">
              <a:solidFill>
                <a:srgbClr val="000000"/>
              </a:solidFill>
              <a:latin typeface="+mj-lt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F78D72B-5E8A-464F-B98B-FFE01B6272D2}"/>
              </a:ext>
            </a:extLst>
          </p:cNvPr>
          <p:cNvGrpSpPr/>
          <p:nvPr/>
        </p:nvGrpSpPr>
        <p:grpSpPr>
          <a:xfrm>
            <a:off x="3389013" y="4982986"/>
            <a:ext cx="1441262" cy="1046572"/>
            <a:chOff x="2523063" y="4429380"/>
            <a:chExt cx="1441262" cy="1046572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6A3AEA8B-B66C-4F59-9FEA-E63B54D074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1050" b="38850" l="35150" r="63850">
                          <a14:foregroundMark x1="53150" y1="31850" x2="53150" y2="31850"/>
                          <a14:foregroundMark x1="52300" y1="23850" x2="52300" y2="23850"/>
                          <a14:foregroundMark x1="48500" y1="23000" x2="48500" y2="23000"/>
                          <a14:foregroundMark x1="47850" y1="24650" x2="47850" y2="24650"/>
                          <a14:foregroundMark x1="63850" y1="37950" x2="63850" y2="37950"/>
                          <a14:foregroundMark x1="61150" y1="37950" x2="61150" y2="37950"/>
                          <a14:foregroundMark x1="57600" y1="38200" x2="57600" y2="38200"/>
                          <a14:foregroundMark x1="55100" y1="38200" x2="55100" y2="38200"/>
                          <a14:foregroundMark x1="52650" y1="37200" x2="52650" y2="37200"/>
                          <a14:foregroundMark x1="51400" y1="38850" x2="51400" y2="38850"/>
                          <a14:foregroundMark x1="48750" y1="38200" x2="48750" y2="38200"/>
                          <a14:foregroundMark x1="48750" y1="36450" x2="48750" y2="36450"/>
                          <a14:foregroundMark x1="47450" y1="38100" x2="47450" y2="38100"/>
                          <a14:foregroundMark x1="44300" y1="37950" x2="44300" y2="37950"/>
                          <a14:foregroundMark x1="43000" y1="37950" x2="43000" y2="37950"/>
                          <a14:foregroundMark x1="39200" y1="37950" x2="39200" y2="37950"/>
                          <a14:foregroundMark x1="37700" y1="36450" x2="37700" y2="36450"/>
                          <a14:foregroundMark x1="36650" y1="36200" x2="36650" y2="36200"/>
                          <a14:foregroundMark x1="35150" y1="36450" x2="35150" y2="364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94" t="18921" r="40677" b="65821"/>
            <a:stretch/>
          </p:blipFill>
          <p:spPr>
            <a:xfrm>
              <a:off x="2795208" y="4429380"/>
              <a:ext cx="896983" cy="738665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C4EF135-2CF3-4421-808E-95C6FFA411B8}"/>
                </a:ext>
              </a:extLst>
            </p:cNvPr>
            <p:cNvSpPr txBox="1"/>
            <p:nvPr/>
          </p:nvSpPr>
          <p:spPr>
            <a:xfrm>
              <a:off x="2640622" y="5168047"/>
              <a:ext cx="1323703" cy="307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1" b="1" dirty="0"/>
                <a:t>n Insight Lab</a:t>
              </a:r>
              <a:endParaRPr lang="ko-KR" altLang="en-US" sz="1401" b="1" dirty="0"/>
            </a:p>
          </p:txBody>
        </p:sp>
        <p:pic>
          <p:nvPicPr>
            <p:cNvPr id="39" name="그래픽 38" descr="제곱">
              <a:extLst>
                <a:ext uri="{FF2B5EF4-FFF2-40B4-BE49-F238E27FC236}">
                  <a16:creationId xmlns:a16="http://schemas.microsoft.com/office/drawing/2014/main" id="{4547E54A-75D5-4EB5-B12B-281D83248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23063" y="5195272"/>
              <a:ext cx="216000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833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306</TotalTime>
  <Words>909</Words>
  <Application>Microsoft Office PowerPoint</Application>
  <PresentationFormat>와이드스크린</PresentationFormat>
  <Paragraphs>97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Google</vt:lpstr>
      <vt:lpstr>Google Sans</vt:lpstr>
      <vt:lpstr>맑은 고딕</vt:lpstr>
      <vt:lpstr>함초롬바탕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MJC</dc:creator>
  <cp:lastModifiedBy>MJC</cp:lastModifiedBy>
  <cp:revision>20</cp:revision>
  <dcterms:created xsi:type="dcterms:W3CDTF">2026-09-17T02:53:24Z</dcterms:created>
  <dcterms:modified xsi:type="dcterms:W3CDTF">2026-09-17T07:59:47Z</dcterms:modified>
</cp:coreProperties>
</file>